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790084e0d64937" /><Relationship Type="http://schemas.openxmlformats.org/officeDocument/2006/relationships/extended-properties" Target="/docProps/app.xml" Id="Ra39134711129415b" /><Relationship Type="http://schemas.openxmlformats.org/officeDocument/2006/relationships/officeDocument" Target="/ppt/presentation.xml" Id="Rad7e660ca836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889ccc6b92417d"/>
  </p:sldMasterIdLst>
  <p:notesMasterIdLst>
    <p:notesMasterId xmlns:r="http://schemas.openxmlformats.org/officeDocument/2006/relationships" r:id="R871af2d6585646a1"/>
  </p:notesMasterIdLst>
  <p:sldIdLst>
    <p:sldId xmlns:r="http://schemas.openxmlformats.org/officeDocument/2006/relationships" id="256" r:id="Rc423e1001ee34ceb"/>
    <p:sldId xmlns:r="http://schemas.openxmlformats.org/officeDocument/2006/relationships" id="257" r:id="Rd23e6526b8b24f96"/>
    <p:sldId xmlns:r="http://schemas.openxmlformats.org/officeDocument/2006/relationships" id="258" r:id="R01bb097f553c47db"/>
    <p:sldId xmlns:r="http://schemas.openxmlformats.org/officeDocument/2006/relationships" id="259" r:id="R903fd06f116340e1"/>
    <p:sldId xmlns:r="http://schemas.openxmlformats.org/officeDocument/2006/relationships" id="260" r:id="R17dd7190715d4f5d"/>
    <p:sldId xmlns:r="http://schemas.openxmlformats.org/officeDocument/2006/relationships" id="261" r:id="Rc2a7b77666534556"/>
    <p:sldId xmlns:r="http://schemas.openxmlformats.org/officeDocument/2006/relationships" id="262" r:id="R39f353857ae94422"/>
    <p:sldId xmlns:r="http://schemas.openxmlformats.org/officeDocument/2006/relationships" id="263" r:id="R45848d96bb964d45"/>
    <p:sldId xmlns:r="http://schemas.openxmlformats.org/officeDocument/2006/relationships" id="264" r:id="Rec8815c92d9248df"/>
    <p:sldId xmlns:r="http://schemas.openxmlformats.org/officeDocument/2006/relationships" id="265" r:id="R794e407b65ab4e80"/>
    <p:sldId xmlns:r="http://schemas.openxmlformats.org/officeDocument/2006/relationships" id="266" r:id="R9f07b3a09fbf4786"/>
    <p:sldId xmlns:r="http://schemas.openxmlformats.org/officeDocument/2006/relationships" id="267" r:id="Rf037017365304268"/>
    <p:sldId xmlns:r="http://schemas.openxmlformats.org/officeDocument/2006/relationships" id="268" r:id="Rbf3d5d34babf46ea"/>
    <p:sldId xmlns:r="http://schemas.openxmlformats.org/officeDocument/2006/relationships" id="269" r:id="R9871f4b664904d9d"/>
    <p:sldId xmlns:r="http://schemas.openxmlformats.org/officeDocument/2006/relationships" id="270" r:id="Rff6670555a8e4022"/>
    <p:sldId xmlns:r="http://schemas.openxmlformats.org/officeDocument/2006/relationships" id="271" r:id="Rf3abdfb028994229"/>
    <p:sldId xmlns:r="http://schemas.openxmlformats.org/officeDocument/2006/relationships" id="272" r:id="R304ded3ba5e44094"/>
    <p:sldId xmlns:r="http://schemas.openxmlformats.org/officeDocument/2006/relationships" id="273" r:id="R37579265d7b245c4"/>
    <p:sldId xmlns:r="http://schemas.openxmlformats.org/officeDocument/2006/relationships" id="274" r:id="R6e0fe212940245d8"/>
    <p:sldId xmlns:r="http://schemas.openxmlformats.org/officeDocument/2006/relationships" id="275" r:id="R2a50e9f2ee9f4ac6"/>
    <p:sldId xmlns:r="http://schemas.openxmlformats.org/officeDocument/2006/relationships" id="276" r:id="Ra63208deb6b84ee6"/>
    <p:sldId xmlns:r="http://schemas.openxmlformats.org/officeDocument/2006/relationships" id="277" r:id="R5626a201872144f7"/>
    <p:sldId xmlns:r="http://schemas.openxmlformats.org/officeDocument/2006/relationships" id="278" r:id="R1a81db9f5d954cae"/>
    <p:sldId xmlns:r="http://schemas.openxmlformats.org/officeDocument/2006/relationships" id="279" r:id="R3dee9e5a721e4cd8"/>
    <p:sldId xmlns:r="http://schemas.openxmlformats.org/officeDocument/2006/relationships" id="280" r:id="Rfbcebd671cdf42d7"/>
    <p:sldId xmlns:r="http://schemas.openxmlformats.org/officeDocument/2006/relationships" id="281" r:id="R1e60beead1d34e5e"/>
    <p:sldId xmlns:r="http://schemas.openxmlformats.org/officeDocument/2006/relationships" id="282" r:id="Rfd8e552df3ad468a"/>
    <p:sldId xmlns:r="http://schemas.openxmlformats.org/officeDocument/2006/relationships" id="283" r:id="Re5fc3fc8fb2a423d"/>
    <p:sldId xmlns:r="http://schemas.openxmlformats.org/officeDocument/2006/relationships" id="284" r:id="Red114849fec24fbe"/>
    <p:sldId xmlns:r="http://schemas.openxmlformats.org/officeDocument/2006/relationships" id="285" r:id="R8feecdac454d401c"/>
    <p:sldId xmlns:r="http://schemas.openxmlformats.org/officeDocument/2006/relationships" id="286" r:id="R3a16a571d4cc439e"/>
    <p:sldId xmlns:r="http://schemas.openxmlformats.org/officeDocument/2006/relationships" id="287" r:id="Rab07b1eafebf4c7c"/>
    <p:sldId xmlns:r="http://schemas.openxmlformats.org/officeDocument/2006/relationships" id="288" r:id="R7d3132cc014b42ad"/>
    <p:sldId xmlns:r="http://schemas.openxmlformats.org/officeDocument/2006/relationships" id="289" r:id="R372c8a4ef83d4159"/>
    <p:sldId xmlns:r="http://schemas.openxmlformats.org/officeDocument/2006/relationships" id="290" r:id="R7c8309535cb74a5f"/>
    <p:sldId xmlns:r="http://schemas.openxmlformats.org/officeDocument/2006/relationships" id="291" r:id="R671b32f5f72e465d"/>
    <p:sldId xmlns:r="http://schemas.openxmlformats.org/officeDocument/2006/relationships" id="292" r:id="R36e0214a8d9b47a2"/>
    <p:sldId xmlns:r="http://schemas.openxmlformats.org/officeDocument/2006/relationships" id="293" r:id="Rb28f65b69d3d4697"/>
    <p:sldId xmlns:r="http://schemas.openxmlformats.org/officeDocument/2006/relationships" id="294" r:id="Rb1177f81d3fa48a6"/>
    <p:sldId xmlns:r="http://schemas.openxmlformats.org/officeDocument/2006/relationships" id="295" r:id="Rb0a07b8a8c464cc9"/>
    <p:sldId xmlns:r="http://schemas.openxmlformats.org/officeDocument/2006/relationships" id="296" r:id="Rbbaf66b48ddf498d"/>
    <p:sldId xmlns:r="http://schemas.openxmlformats.org/officeDocument/2006/relationships" id="297" r:id="R44d148954c1f46ba"/>
    <p:sldId xmlns:r="http://schemas.openxmlformats.org/officeDocument/2006/relationships" id="298" r:id="Raec6e677077343d2"/>
    <p:sldId xmlns:r="http://schemas.openxmlformats.org/officeDocument/2006/relationships" id="299" r:id="Rff3e8a1b3af944ca"/>
    <p:sldId xmlns:r="http://schemas.openxmlformats.org/officeDocument/2006/relationships" id="300" r:id="R81ae1f9ea243473f"/>
    <p:sldId xmlns:r="http://schemas.openxmlformats.org/officeDocument/2006/relationships" id="301" r:id="Rab5e66bdf11f4f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89ccc6b92417d" /><Relationship Type="http://schemas.openxmlformats.org/officeDocument/2006/relationships/theme" Target="/ppt/theme/theme1.xml" Id="R6476b429fce4415a" /><Relationship Type="http://schemas.openxmlformats.org/officeDocument/2006/relationships/notesMaster" Target="/ppt/notesMasters/notesMaster1.xml" Id="R871af2d6585646a1" /><Relationship Type="http://schemas.openxmlformats.org/officeDocument/2006/relationships/presProps" Target="/ppt/presProps.xml" Id="R32ce9399d0fc4f94" /><Relationship Type="http://schemas.openxmlformats.org/officeDocument/2006/relationships/viewProps" Target="/ppt/viewProps.xml" Id="Rc39fc23b445b417a" /><Relationship Type="http://schemas.openxmlformats.org/officeDocument/2006/relationships/tableStyles" Target="/ppt/tableStyles.xml" Id="R0f7f4a90d2884713" /><Relationship Type="http://schemas.openxmlformats.org/officeDocument/2006/relationships/slide" Target="/ppt/slides/slide1.xml" Id="Rc423e1001ee34ceb" /><Relationship Type="http://schemas.openxmlformats.org/officeDocument/2006/relationships/slide" Target="/ppt/slides/slide2.xml" Id="Rd23e6526b8b24f96" /><Relationship Type="http://schemas.openxmlformats.org/officeDocument/2006/relationships/slide" Target="/ppt/slides/slide3.xml" Id="R01bb097f553c47db" /><Relationship Type="http://schemas.openxmlformats.org/officeDocument/2006/relationships/slide" Target="/ppt/slides/slide4.xml" Id="R903fd06f116340e1" /><Relationship Type="http://schemas.openxmlformats.org/officeDocument/2006/relationships/slide" Target="/ppt/slides/slide5.xml" Id="R17dd7190715d4f5d" /><Relationship Type="http://schemas.openxmlformats.org/officeDocument/2006/relationships/slide" Target="/ppt/slides/slide6.xml" Id="Rc2a7b77666534556" /><Relationship Type="http://schemas.openxmlformats.org/officeDocument/2006/relationships/slide" Target="/ppt/slides/slide7.xml" Id="R39f353857ae94422" /><Relationship Type="http://schemas.openxmlformats.org/officeDocument/2006/relationships/slide" Target="/ppt/slides/slide8.xml" Id="R45848d96bb964d45" /><Relationship Type="http://schemas.openxmlformats.org/officeDocument/2006/relationships/slide" Target="/ppt/slides/slide9.xml" Id="Rec8815c92d9248df" /><Relationship Type="http://schemas.openxmlformats.org/officeDocument/2006/relationships/slide" Target="/ppt/slides/slide10.xml" Id="R794e407b65ab4e80" /><Relationship Type="http://schemas.openxmlformats.org/officeDocument/2006/relationships/slide" Target="/ppt/slides/slide11.xml" Id="R9f07b3a09fbf4786" /><Relationship Type="http://schemas.openxmlformats.org/officeDocument/2006/relationships/slide" Target="/ppt/slides/slide12.xml" Id="Rf037017365304268" /><Relationship Type="http://schemas.openxmlformats.org/officeDocument/2006/relationships/slide" Target="/ppt/slides/slide13.xml" Id="Rbf3d5d34babf46ea" /><Relationship Type="http://schemas.openxmlformats.org/officeDocument/2006/relationships/slide" Target="/ppt/slides/slide14.xml" Id="R9871f4b664904d9d" /><Relationship Type="http://schemas.openxmlformats.org/officeDocument/2006/relationships/slide" Target="/ppt/slides/slide15.xml" Id="Rff6670555a8e4022" /><Relationship Type="http://schemas.openxmlformats.org/officeDocument/2006/relationships/slide" Target="/ppt/slides/slide16.xml" Id="Rf3abdfb028994229" /><Relationship Type="http://schemas.openxmlformats.org/officeDocument/2006/relationships/slide" Target="/ppt/slides/slide17.xml" Id="R304ded3ba5e44094" /><Relationship Type="http://schemas.openxmlformats.org/officeDocument/2006/relationships/slide" Target="/ppt/slides/slide18.xml" Id="R37579265d7b245c4" /><Relationship Type="http://schemas.openxmlformats.org/officeDocument/2006/relationships/slide" Target="/ppt/slides/slide19.xml" Id="R6e0fe212940245d8" /><Relationship Type="http://schemas.openxmlformats.org/officeDocument/2006/relationships/slide" Target="/ppt/slides/slide20.xml" Id="R2a50e9f2ee9f4ac6" /><Relationship Type="http://schemas.openxmlformats.org/officeDocument/2006/relationships/slide" Target="/ppt/slides/slide21.xml" Id="Ra63208deb6b84ee6" /><Relationship Type="http://schemas.openxmlformats.org/officeDocument/2006/relationships/slide" Target="/ppt/slides/slide22.xml" Id="R5626a201872144f7" /><Relationship Type="http://schemas.openxmlformats.org/officeDocument/2006/relationships/slide" Target="/ppt/slides/slide23.xml" Id="R1a81db9f5d954cae" /><Relationship Type="http://schemas.openxmlformats.org/officeDocument/2006/relationships/slide" Target="/ppt/slides/slide24.xml" Id="R3dee9e5a721e4cd8" /><Relationship Type="http://schemas.openxmlformats.org/officeDocument/2006/relationships/slide" Target="/ppt/slides/slide25.xml" Id="Rfbcebd671cdf42d7" /><Relationship Type="http://schemas.openxmlformats.org/officeDocument/2006/relationships/slide" Target="/ppt/slides/slide26.xml" Id="R1e60beead1d34e5e" /><Relationship Type="http://schemas.openxmlformats.org/officeDocument/2006/relationships/slide" Target="/ppt/slides/slide27.xml" Id="Rfd8e552df3ad468a" /><Relationship Type="http://schemas.openxmlformats.org/officeDocument/2006/relationships/slide" Target="/ppt/slides/slide28.xml" Id="Re5fc3fc8fb2a423d" /><Relationship Type="http://schemas.openxmlformats.org/officeDocument/2006/relationships/slide" Target="/ppt/slides/slide29.xml" Id="Red114849fec24fbe" /><Relationship Type="http://schemas.openxmlformats.org/officeDocument/2006/relationships/slide" Target="/ppt/slides/slide30.xml" Id="R8feecdac454d401c" /><Relationship Type="http://schemas.openxmlformats.org/officeDocument/2006/relationships/slide" Target="/ppt/slides/slide31.xml" Id="R3a16a571d4cc439e" /><Relationship Type="http://schemas.openxmlformats.org/officeDocument/2006/relationships/slide" Target="/ppt/slides/slide32.xml" Id="Rab07b1eafebf4c7c" /><Relationship Type="http://schemas.openxmlformats.org/officeDocument/2006/relationships/slide" Target="/ppt/slides/slide33.xml" Id="R7d3132cc014b42ad" /><Relationship Type="http://schemas.openxmlformats.org/officeDocument/2006/relationships/slide" Target="/ppt/slides/slide34.xml" Id="R372c8a4ef83d4159" /><Relationship Type="http://schemas.openxmlformats.org/officeDocument/2006/relationships/slide" Target="/ppt/slides/slide35.xml" Id="R7c8309535cb74a5f" /><Relationship Type="http://schemas.openxmlformats.org/officeDocument/2006/relationships/slide" Target="/ppt/slides/slide36.xml" Id="R671b32f5f72e465d" /><Relationship Type="http://schemas.openxmlformats.org/officeDocument/2006/relationships/slide" Target="/ppt/slides/slide37.xml" Id="R36e0214a8d9b47a2" /><Relationship Type="http://schemas.openxmlformats.org/officeDocument/2006/relationships/slide" Target="/ppt/slides/slide38.xml" Id="Rb28f65b69d3d4697" /><Relationship Type="http://schemas.openxmlformats.org/officeDocument/2006/relationships/slide" Target="/ppt/slides/slide39.xml" Id="Rb1177f81d3fa48a6" /><Relationship Type="http://schemas.openxmlformats.org/officeDocument/2006/relationships/slide" Target="/ppt/slides/slide40.xml" Id="Rb0a07b8a8c464cc9" /><Relationship Type="http://schemas.openxmlformats.org/officeDocument/2006/relationships/slide" Target="/ppt/slides/slide41.xml" Id="Rbbaf66b48ddf498d" /><Relationship Type="http://schemas.openxmlformats.org/officeDocument/2006/relationships/slide" Target="/ppt/slides/slide42.xml" Id="R44d148954c1f46ba" /><Relationship Type="http://schemas.openxmlformats.org/officeDocument/2006/relationships/slide" Target="/ppt/slides/slide43.xml" Id="Raec6e677077343d2" /><Relationship Type="http://schemas.openxmlformats.org/officeDocument/2006/relationships/slide" Target="/ppt/slides/slide44.xml" Id="Rff3e8a1b3af944ca" /><Relationship Type="http://schemas.openxmlformats.org/officeDocument/2006/relationships/slide" Target="/ppt/slides/slide45.xml" Id="R81ae1f9ea243473f" /><Relationship Type="http://schemas.openxmlformats.org/officeDocument/2006/relationships/slide" Target="/ppt/slides/slide46.xml" Id="Rab5e66bdf11f4f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2291bd6e0d42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7fef1ccf9840c9" /><Relationship Type="http://schemas.openxmlformats.org/officeDocument/2006/relationships/notesMaster" Target="/ppt/notesMasters/notesMaster1.xml" Id="R19c772a3c4e846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b28036b81f4ab4" /><Relationship Type="http://schemas.openxmlformats.org/officeDocument/2006/relationships/notesMaster" Target="/ppt/notesMasters/notesMaster1.xml" Id="R0c1d5388b3d34b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8d79b1595842c3" /><Relationship Type="http://schemas.openxmlformats.org/officeDocument/2006/relationships/notesMaster" Target="/ppt/notesMasters/notesMaster1.xml" Id="R3effa2daa2c441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d7a5c9f584246" /><Relationship Type="http://schemas.openxmlformats.org/officeDocument/2006/relationships/notesMaster" Target="/ppt/notesMasters/notesMaster1.xml" Id="R29d1d052a3fc44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cf9104afc948ef" /><Relationship Type="http://schemas.openxmlformats.org/officeDocument/2006/relationships/notesMaster" Target="/ppt/notesMasters/notesMaster1.xml" Id="R09efbcf82f9145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adfad07cc7411b" /><Relationship Type="http://schemas.openxmlformats.org/officeDocument/2006/relationships/notesMaster" Target="/ppt/notesMasters/notesMaster1.xml" Id="Reb6a4c83421047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e7428cf5a045a6" /><Relationship Type="http://schemas.openxmlformats.org/officeDocument/2006/relationships/notesMaster" Target="/ppt/notesMasters/notesMaster1.xml" Id="R51175eab6e5943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b1cc4945f6463b" /><Relationship Type="http://schemas.openxmlformats.org/officeDocument/2006/relationships/notesMaster" Target="/ppt/notesMasters/notesMaster1.xml" Id="Ra3db222599c442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fbe6b32be04ef8" /><Relationship Type="http://schemas.openxmlformats.org/officeDocument/2006/relationships/notesMaster" Target="/ppt/notesMasters/notesMaster1.xml" Id="R2f2cd44d920643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bfd7abcc534013" /><Relationship Type="http://schemas.openxmlformats.org/officeDocument/2006/relationships/notesMaster" Target="/ppt/notesMasters/notesMaster1.xml" Id="R452e0fe6ccb445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1ae5c91fe24116" /><Relationship Type="http://schemas.openxmlformats.org/officeDocument/2006/relationships/notesMaster" Target="/ppt/notesMasters/notesMaster1.xml" Id="R3b0cba73f91643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8512e84684446f" /><Relationship Type="http://schemas.openxmlformats.org/officeDocument/2006/relationships/notesMaster" Target="/ppt/notesMasters/notesMaster1.xml" Id="R96ed752ffdbb4d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09d65c62394e02" /><Relationship Type="http://schemas.openxmlformats.org/officeDocument/2006/relationships/notesMaster" Target="/ppt/notesMasters/notesMaster1.xml" Id="R6ebfbe1720a64e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e03fd865534dcd" /><Relationship Type="http://schemas.openxmlformats.org/officeDocument/2006/relationships/notesMaster" Target="/ppt/notesMasters/notesMaster1.xml" Id="R555180ddb91145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108f0874e9409d" /><Relationship Type="http://schemas.openxmlformats.org/officeDocument/2006/relationships/notesMaster" Target="/ppt/notesMasters/notesMaster1.xml" Id="R5bd3dcfdb9284a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6673482b434632" /><Relationship Type="http://schemas.openxmlformats.org/officeDocument/2006/relationships/notesMaster" Target="/ppt/notesMasters/notesMaster1.xml" Id="Rb2a8eeb4f29342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6c73c001944eaa" /><Relationship Type="http://schemas.openxmlformats.org/officeDocument/2006/relationships/notesMaster" Target="/ppt/notesMasters/notesMaster1.xml" Id="Re30a9b342b574c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f403a4b3bc4c88" /><Relationship Type="http://schemas.openxmlformats.org/officeDocument/2006/relationships/notesMaster" Target="/ppt/notesMasters/notesMaster1.xml" Id="Re9e50a8a0f4740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53fca288d44a03" /><Relationship Type="http://schemas.openxmlformats.org/officeDocument/2006/relationships/notesMaster" Target="/ppt/notesMasters/notesMaster1.xml" Id="Rbb3bf6411b9743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09e83ffe8f4a4f" /><Relationship Type="http://schemas.openxmlformats.org/officeDocument/2006/relationships/notesMaster" Target="/ppt/notesMasters/notesMaster1.xml" Id="R608f6911dc6c4c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0e4958d02c4fb5" /><Relationship Type="http://schemas.openxmlformats.org/officeDocument/2006/relationships/notesMaster" Target="/ppt/notesMasters/notesMaster1.xml" Id="Re9a33827fdf04b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26381a408c4caa" /><Relationship Type="http://schemas.openxmlformats.org/officeDocument/2006/relationships/notesMaster" Target="/ppt/notesMasters/notesMaster1.xml" Id="R802fbc1582eb497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fc00ab95cf4c42" /><Relationship Type="http://schemas.openxmlformats.org/officeDocument/2006/relationships/notesMaster" Target="/ppt/notesMasters/notesMaster1.xml" Id="Rf57508e8531248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2f33528d0f04c83" /><Relationship Type="http://schemas.openxmlformats.org/officeDocument/2006/relationships/notesMaster" Target="/ppt/notesMasters/notesMaster1.xml" Id="R820a67abba6f4fd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39736f7cf134d1a" /><Relationship Type="http://schemas.openxmlformats.org/officeDocument/2006/relationships/notesMaster" Target="/ppt/notesMasters/notesMaster1.xml" Id="R85945e6d680e41e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9b9c28bb96c4ff5" /><Relationship Type="http://schemas.openxmlformats.org/officeDocument/2006/relationships/notesMaster" Target="/ppt/notesMasters/notesMaster1.xml" Id="R2187655e7ce5410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c41af95a2ea4c7b" /><Relationship Type="http://schemas.openxmlformats.org/officeDocument/2006/relationships/notesMaster" Target="/ppt/notesMasters/notesMaster1.xml" Id="R227929b8119749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32e6c30c1b94807" /><Relationship Type="http://schemas.openxmlformats.org/officeDocument/2006/relationships/notesMaster" Target="/ppt/notesMasters/notesMaster1.xml" Id="R4689d5c7d1104b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d103a78237e46e6" /><Relationship Type="http://schemas.openxmlformats.org/officeDocument/2006/relationships/notesMaster" Target="/ppt/notesMasters/notesMaster1.xml" Id="R59c908a52e054c0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21e50a49bec4e02" /><Relationship Type="http://schemas.openxmlformats.org/officeDocument/2006/relationships/notesMaster" Target="/ppt/notesMasters/notesMaster1.xml" Id="Rd519ddb26e0b4aa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3073bd5423e40ee" /><Relationship Type="http://schemas.openxmlformats.org/officeDocument/2006/relationships/notesMaster" Target="/ppt/notesMasters/notesMaster1.xml" Id="R9d6c4cddadb142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4f76984653b435b" /><Relationship Type="http://schemas.openxmlformats.org/officeDocument/2006/relationships/notesMaster" Target="/ppt/notesMasters/notesMaster1.xml" Id="R53f19ffc063644d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d7e38bf5c5e43ae" /><Relationship Type="http://schemas.openxmlformats.org/officeDocument/2006/relationships/notesMaster" Target="/ppt/notesMasters/notesMaster1.xml" Id="R5f6ff5592db54a8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9bba3e981b340d0" /><Relationship Type="http://schemas.openxmlformats.org/officeDocument/2006/relationships/notesMaster" Target="/ppt/notesMasters/notesMaster1.xml" Id="R9d4c0830151f4b9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ae68947417b4fcf" /><Relationship Type="http://schemas.openxmlformats.org/officeDocument/2006/relationships/notesMaster" Target="/ppt/notesMasters/notesMaster1.xml" Id="R04f8fd40e378455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b54731aac5340f0" /><Relationship Type="http://schemas.openxmlformats.org/officeDocument/2006/relationships/notesMaster" Target="/ppt/notesMasters/notesMaster1.xml" Id="Rd45d7f1e922f442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58545655e46427c" /><Relationship Type="http://schemas.openxmlformats.org/officeDocument/2006/relationships/notesMaster" Target="/ppt/notesMasters/notesMaster1.xml" Id="Rca75a31a4f634d0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d9e74b8467642dd" /><Relationship Type="http://schemas.openxmlformats.org/officeDocument/2006/relationships/notesMaster" Target="/ppt/notesMasters/notesMaster1.xml" Id="Rfe278c4c832741f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18e8ed2c10846a1" /><Relationship Type="http://schemas.openxmlformats.org/officeDocument/2006/relationships/notesMaster" Target="/ppt/notesMasters/notesMaster1.xml" Id="R47e113b8543c4ce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2e260e288cf48c6" /><Relationship Type="http://schemas.openxmlformats.org/officeDocument/2006/relationships/notesMaster" Target="/ppt/notesMasters/notesMaster1.xml" Id="R8bed506ad611481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459116e47f14687" /><Relationship Type="http://schemas.openxmlformats.org/officeDocument/2006/relationships/notesMaster" Target="/ppt/notesMasters/notesMaster1.xml" Id="Rcd1cf8a606ae486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287f3284d694cb9" /><Relationship Type="http://schemas.openxmlformats.org/officeDocument/2006/relationships/notesMaster" Target="/ppt/notesMasters/notesMaster1.xml" Id="R49e5ca24f98647d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47166f6a10143a8" /><Relationship Type="http://schemas.openxmlformats.org/officeDocument/2006/relationships/notesMaster" Target="/ppt/notesMasters/notesMaster1.xml" Id="R4c874fab0e504a5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83cf20ae0cb4bc8" /><Relationship Type="http://schemas.openxmlformats.org/officeDocument/2006/relationships/notesMaster" Target="/ppt/notesMasters/notesMaster1.xml" Id="R24789de65772486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aeb538dd9254beb" /><Relationship Type="http://schemas.openxmlformats.org/officeDocument/2006/relationships/notesMaster" Target="/ppt/notesMasters/notesMaster1.xml" Id="R830b3927cda0460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c623ba2cb604dc9" /><Relationship Type="http://schemas.openxmlformats.org/officeDocument/2006/relationships/notesMaster" Target="/ppt/notesMasters/notesMaster1.xml" Id="R3b83c35cb8964d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c78ec44564958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3a3761bb2d40cb" /><Relationship Type="http://schemas.openxmlformats.org/officeDocument/2006/relationships/slideLayout" Target="/ppt/slideLayouts/slideLayout2.xml" Id="R422ed65119e141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2ed65119e14173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34e109d96d4f5a" /><Relationship Type="http://schemas.openxmlformats.org/officeDocument/2006/relationships/notesSlide" Target="/ppt/notesSlides/notesSlide1.xml" Id="Raeff86949da64a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a263a596954471" /><Relationship Type="http://schemas.openxmlformats.org/officeDocument/2006/relationships/notesSlide" Target="/ppt/notesSlides/notesSlide2.xml" Id="R9e884df5dfc043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824dd1e0a94dbb" /><Relationship Type="http://schemas.openxmlformats.org/officeDocument/2006/relationships/notesSlide" Target="/ppt/notesSlides/notesSlide3.xml" Id="R071edb3135d9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cbfc6337474dc3" /><Relationship Type="http://schemas.openxmlformats.org/officeDocument/2006/relationships/image" Target="/ppt/media/image.png" Id="Rc92bbcc23c3c46ec" /><Relationship Type="http://schemas.openxmlformats.org/officeDocument/2006/relationships/image" Target="/ppt/media/image.svg" Id="R44de9e80deb94a43" /><Relationship Type="http://schemas.openxmlformats.org/officeDocument/2006/relationships/notesSlide" Target="/ppt/notesSlides/notesSlide4.xml" Id="Rc4d93f4d196c4c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2170bdaab44c7d" /><Relationship Type="http://schemas.openxmlformats.org/officeDocument/2006/relationships/notesSlide" Target="/ppt/notesSlides/notesSlide5.xml" Id="R1873c2914ef64c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cd754fd48e429e" /><Relationship Type="http://schemas.openxmlformats.org/officeDocument/2006/relationships/notesSlide" Target="/ppt/notesSlides/notesSlide6.xml" Id="Rb876baf6e09649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22ffd912b4483f" /><Relationship Type="http://schemas.openxmlformats.org/officeDocument/2006/relationships/notesSlide" Target="/ppt/notesSlides/notesSlide7.xml" Id="R3111ef60bbb240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8a8897ad8e4893" /><Relationship Type="http://schemas.openxmlformats.org/officeDocument/2006/relationships/image" Target="/ppt/media/image2.png" Id="R6bcf3715b09a4cdc" /><Relationship Type="http://schemas.openxmlformats.org/officeDocument/2006/relationships/image" Target="/ppt/media/image2.svg" Id="R6990852ffbc34e09" /><Relationship Type="http://schemas.openxmlformats.org/officeDocument/2006/relationships/notesSlide" Target="/ppt/notesSlides/notesSlide8.xml" Id="R4d5fb542d07747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ce4c6b2c145b0" /><Relationship Type="http://schemas.openxmlformats.org/officeDocument/2006/relationships/image" Target="/ppt/media/image3.png" Id="R9bda4adeb29a47d2" /><Relationship Type="http://schemas.openxmlformats.org/officeDocument/2006/relationships/image" Target="/ppt/media/image3.svg" Id="R46a59cf7717a464f" /><Relationship Type="http://schemas.openxmlformats.org/officeDocument/2006/relationships/notesSlide" Target="/ppt/notesSlides/notesSlide9.xml" Id="Rec4fbfe8d39e4e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425f888fc4f95" /><Relationship Type="http://schemas.openxmlformats.org/officeDocument/2006/relationships/image" Target="/ppt/media/image4.png" Id="Rc369b19ceddb4656" /><Relationship Type="http://schemas.openxmlformats.org/officeDocument/2006/relationships/image" Target="/ppt/media/image4.svg" Id="Rf05527a5405641cf" /><Relationship Type="http://schemas.openxmlformats.org/officeDocument/2006/relationships/notesSlide" Target="/ppt/notesSlides/notesSlide10.xml" Id="R7be8536f42fd4a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205cfbfb14a01" /><Relationship Type="http://schemas.openxmlformats.org/officeDocument/2006/relationships/image" Target="/ppt/media/image5.png" Id="R2549199eace24db1" /><Relationship Type="http://schemas.openxmlformats.org/officeDocument/2006/relationships/image" Target="/ppt/media/image5.svg" Id="R30ac5690326e4a32" /><Relationship Type="http://schemas.openxmlformats.org/officeDocument/2006/relationships/image" Target="/ppt/media/image6.png" Id="Rae494a194900462f" /><Relationship Type="http://schemas.openxmlformats.org/officeDocument/2006/relationships/image" Target="/ppt/media/image6.svg" Id="R43ee6d1e0f5144a3" /><Relationship Type="http://schemas.openxmlformats.org/officeDocument/2006/relationships/notesSlide" Target="/ppt/notesSlides/notesSlide11.xml" Id="Rf800a4b8e54544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209b602a924da0" /><Relationship Type="http://schemas.openxmlformats.org/officeDocument/2006/relationships/image" Target="/ppt/media/image7.png" Id="R25137de5bc8447b2" /><Relationship Type="http://schemas.openxmlformats.org/officeDocument/2006/relationships/image" Target="/ppt/media/image7.svg" Id="R0e1daf70b2eb4758" /><Relationship Type="http://schemas.openxmlformats.org/officeDocument/2006/relationships/notesSlide" Target="/ppt/notesSlides/notesSlide12.xml" Id="Re8da537be7924e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1aee12625a4f8b" /><Relationship Type="http://schemas.openxmlformats.org/officeDocument/2006/relationships/image" Target="/ppt/media/image8.png" Id="Ra67ee19e453b4c92" /><Relationship Type="http://schemas.openxmlformats.org/officeDocument/2006/relationships/image" Target="/ppt/media/image8.svg" Id="R6a3a4890633b4754" /><Relationship Type="http://schemas.openxmlformats.org/officeDocument/2006/relationships/notesSlide" Target="/ppt/notesSlides/notesSlide13.xml" Id="R17dd01945dd349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ef375557a24d33" /><Relationship Type="http://schemas.openxmlformats.org/officeDocument/2006/relationships/image" Target="/ppt/media/image9.png" Id="R31add503ccf34087" /><Relationship Type="http://schemas.openxmlformats.org/officeDocument/2006/relationships/image" Target="/ppt/media/image9.svg" Id="R6901f16de22a4f45" /><Relationship Type="http://schemas.openxmlformats.org/officeDocument/2006/relationships/notesSlide" Target="/ppt/notesSlides/notesSlide14.xml" Id="R1b029f327bd741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f124f231344302" /><Relationship Type="http://schemas.openxmlformats.org/officeDocument/2006/relationships/notesSlide" Target="/ppt/notesSlides/notesSlide15.xml" Id="R9985393c521841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4e614c643f4560" /><Relationship Type="http://schemas.openxmlformats.org/officeDocument/2006/relationships/image" Target="/ppt/media/image10.png" Id="R802c222cec0f492b" /><Relationship Type="http://schemas.openxmlformats.org/officeDocument/2006/relationships/image" Target="/ppt/media/image10.svg" Id="R05c4a40cb3b54f68" /><Relationship Type="http://schemas.openxmlformats.org/officeDocument/2006/relationships/notesSlide" Target="/ppt/notesSlides/notesSlide16.xml" Id="R80227120d4bc48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ef70ec9a6d4866" /><Relationship Type="http://schemas.openxmlformats.org/officeDocument/2006/relationships/image" Target="/ppt/media/image11.png" Id="R6b4bed4e91fb4aa2" /><Relationship Type="http://schemas.openxmlformats.org/officeDocument/2006/relationships/image" Target="/ppt/media/image11.svg" Id="R1fd717491cff4e1b" /><Relationship Type="http://schemas.openxmlformats.org/officeDocument/2006/relationships/notesSlide" Target="/ppt/notesSlides/notesSlide17.xml" Id="R7146a0917dba47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ec038810242af" /><Relationship Type="http://schemas.openxmlformats.org/officeDocument/2006/relationships/image" Target="/ppt/media/image12.png" Id="Re10fcd28e2984a93" /><Relationship Type="http://schemas.openxmlformats.org/officeDocument/2006/relationships/image" Target="/ppt/media/image12.svg" Id="R04bdbaefe25f479e" /><Relationship Type="http://schemas.openxmlformats.org/officeDocument/2006/relationships/notesSlide" Target="/ppt/notesSlides/notesSlide18.xml" Id="R73596f50bedb4f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f2288951174cb8" /><Relationship Type="http://schemas.openxmlformats.org/officeDocument/2006/relationships/image" Target="/ppt/media/image13.png" Id="Rae9d6b2e7f724214" /><Relationship Type="http://schemas.openxmlformats.org/officeDocument/2006/relationships/image" Target="/ppt/media/image13.svg" Id="Rd82c8f42fd924b8d" /><Relationship Type="http://schemas.openxmlformats.org/officeDocument/2006/relationships/notesSlide" Target="/ppt/notesSlides/notesSlide19.xml" Id="Rb348b5a93caf43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e967633e3841e4" /><Relationship Type="http://schemas.openxmlformats.org/officeDocument/2006/relationships/image" Target="/ppt/media/image14.png" Id="R5499e2363fe14df5" /><Relationship Type="http://schemas.openxmlformats.org/officeDocument/2006/relationships/image" Target="/ppt/media/image14.svg" Id="Rea47cec5ce8845fe" /><Relationship Type="http://schemas.openxmlformats.org/officeDocument/2006/relationships/notesSlide" Target="/ppt/notesSlides/notesSlide20.xml" Id="R7319ee389fac4e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c9653aad8e4e20" /><Relationship Type="http://schemas.openxmlformats.org/officeDocument/2006/relationships/image" Target="/ppt/media/image15.png" Id="R31628dd22eef4c70" /><Relationship Type="http://schemas.openxmlformats.org/officeDocument/2006/relationships/image" Target="/ppt/media/image15.svg" Id="R6d415b0a0cde4763" /><Relationship Type="http://schemas.openxmlformats.org/officeDocument/2006/relationships/notesSlide" Target="/ppt/notesSlides/notesSlide21.xml" Id="R6f75b5adc01743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fb16d725724a55" /><Relationship Type="http://schemas.openxmlformats.org/officeDocument/2006/relationships/image" Target="/ppt/media/image16.png" Id="R24dcf04449b84ebf" /><Relationship Type="http://schemas.openxmlformats.org/officeDocument/2006/relationships/image" Target="/ppt/media/image16.svg" Id="Rf5eb99f29c3c4862" /><Relationship Type="http://schemas.openxmlformats.org/officeDocument/2006/relationships/notesSlide" Target="/ppt/notesSlides/notesSlide22.xml" Id="R3aafa96e075046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7dac463bd94e32" /><Relationship Type="http://schemas.openxmlformats.org/officeDocument/2006/relationships/image" Target="/ppt/media/image17.png" Id="R1b4a19f4ceae4814" /><Relationship Type="http://schemas.openxmlformats.org/officeDocument/2006/relationships/image" Target="/ppt/media/image17.svg" Id="R971117d0284a4d94" /><Relationship Type="http://schemas.openxmlformats.org/officeDocument/2006/relationships/notesSlide" Target="/ppt/notesSlides/notesSlide23.xml" Id="R35cb3e696a974c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80b587a944700" /><Relationship Type="http://schemas.openxmlformats.org/officeDocument/2006/relationships/notesSlide" Target="/ppt/notesSlides/notesSlide24.xml" Id="R7a9d158bd63b47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bccec1b7f44e08" /><Relationship Type="http://schemas.openxmlformats.org/officeDocument/2006/relationships/image" Target="/ppt/media/image18.png" Id="Rad99960b06dd49dd" /><Relationship Type="http://schemas.openxmlformats.org/officeDocument/2006/relationships/image" Target="/ppt/media/image18.svg" Id="Rc8cf7aa67dbf48a2" /><Relationship Type="http://schemas.openxmlformats.org/officeDocument/2006/relationships/notesSlide" Target="/ppt/notesSlides/notesSlide25.xml" Id="R6a23daa6eb6b40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997f4de9234749" /><Relationship Type="http://schemas.openxmlformats.org/officeDocument/2006/relationships/image" Target="/ppt/media/image19.png" Id="Ra53ac39328fa44f6" /><Relationship Type="http://schemas.openxmlformats.org/officeDocument/2006/relationships/image" Target="/ppt/media/image19.svg" Id="Rd4b0d90eefec4452" /><Relationship Type="http://schemas.openxmlformats.org/officeDocument/2006/relationships/image" Target="/ppt/media/image20.png" Id="R76aaf9ac8a3c43fd" /><Relationship Type="http://schemas.openxmlformats.org/officeDocument/2006/relationships/image" Target="/ppt/media/image20.svg" Id="R5bafc634bd134e67" /><Relationship Type="http://schemas.openxmlformats.org/officeDocument/2006/relationships/notesSlide" Target="/ppt/notesSlides/notesSlide26.xml" Id="Re261748af4c5447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116eaa3304c32" /><Relationship Type="http://schemas.openxmlformats.org/officeDocument/2006/relationships/image" Target="/ppt/media/image21.png" Id="R6e7d4d557a894026" /><Relationship Type="http://schemas.openxmlformats.org/officeDocument/2006/relationships/image" Target="/ppt/media/image21.svg" Id="Readc7664ae1a4c8e" /><Relationship Type="http://schemas.openxmlformats.org/officeDocument/2006/relationships/notesSlide" Target="/ppt/notesSlides/notesSlide27.xml" Id="R2fdfa96bd2cb450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c09802f784481c" /><Relationship Type="http://schemas.openxmlformats.org/officeDocument/2006/relationships/image" Target="/ppt/media/image22.png" Id="R8eabce1989fd48b7" /><Relationship Type="http://schemas.openxmlformats.org/officeDocument/2006/relationships/image" Target="/ppt/media/image22.svg" Id="Rde85727b2ddd4413" /><Relationship Type="http://schemas.openxmlformats.org/officeDocument/2006/relationships/notesSlide" Target="/ppt/notesSlides/notesSlide28.xml" Id="R2a1e865b017a4b2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a602b5b9ef49d2" /><Relationship Type="http://schemas.openxmlformats.org/officeDocument/2006/relationships/notesSlide" Target="/ppt/notesSlides/notesSlide29.xml" Id="R6387e218d1f1470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b67ee92e24ac0" /><Relationship Type="http://schemas.openxmlformats.org/officeDocument/2006/relationships/notesSlide" Target="/ppt/notesSlides/notesSlide30.xml" Id="R772e2496f893491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d2cb495a3f48c0" /><Relationship Type="http://schemas.openxmlformats.org/officeDocument/2006/relationships/notesSlide" Target="/ppt/notesSlides/notesSlide31.xml" Id="Rd3d5a61f0b1940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18fb0002b46ff" /><Relationship Type="http://schemas.openxmlformats.org/officeDocument/2006/relationships/image" Target="/ppt/media/image23.png" Id="R65f9e87be5e845e3" /><Relationship Type="http://schemas.openxmlformats.org/officeDocument/2006/relationships/image" Target="/ppt/media/image23.svg" Id="Rc32983a3a0c740cd" /><Relationship Type="http://schemas.openxmlformats.org/officeDocument/2006/relationships/notesSlide" Target="/ppt/notesSlides/notesSlide32.xml" Id="R8ec14df6b221421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c055c77ed74bfe" /><Relationship Type="http://schemas.openxmlformats.org/officeDocument/2006/relationships/image" Target="/ppt/media/image24.png" Id="R30262ea53be7415f" /><Relationship Type="http://schemas.openxmlformats.org/officeDocument/2006/relationships/image" Target="/ppt/media/image24.svg" Id="Re6cc93b844fe44ab" /><Relationship Type="http://schemas.openxmlformats.org/officeDocument/2006/relationships/notesSlide" Target="/ppt/notesSlides/notesSlide33.xml" Id="Re880483504f2444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31b7dd1844c0e" /><Relationship Type="http://schemas.openxmlformats.org/officeDocument/2006/relationships/image" Target="/ppt/media/image25.png" Id="R8bbc7897dfd64e2e" /><Relationship Type="http://schemas.openxmlformats.org/officeDocument/2006/relationships/image" Target="/ppt/media/image25.svg" Id="Rfb533222cc2a432d" /><Relationship Type="http://schemas.openxmlformats.org/officeDocument/2006/relationships/notesSlide" Target="/ppt/notesSlides/notesSlide34.xml" Id="R02b9b0a7e3574c5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0f4a2973ee48bf" /><Relationship Type="http://schemas.openxmlformats.org/officeDocument/2006/relationships/notesSlide" Target="/ppt/notesSlides/notesSlide35.xml" Id="Ra5e2340d123840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d8fb343e44355" /><Relationship Type="http://schemas.openxmlformats.org/officeDocument/2006/relationships/image" Target="/ppt/media/image26.png" Id="R45f3856610854697" /><Relationship Type="http://schemas.openxmlformats.org/officeDocument/2006/relationships/image" Target="/ppt/media/image26.svg" Id="R8ed03ad5b7044487" /><Relationship Type="http://schemas.openxmlformats.org/officeDocument/2006/relationships/notesSlide" Target="/ppt/notesSlides/notesSlide36.xml" Id="R57a20cd763e644a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8e8e5768eb4442" /><Relationship Type="http://schemas.openxmlformats.org/officeDocument/2006/relationships/image" Target="/ppt/media/image27.png" Id="Rbaf638f5bcaf4f00" /><Relationship Type="http://schemas.openxmlformats.org/officeDocument/2006/relationships/image" Target="/ppt/media/image27.svg" Id="Ra3601b3a6d294e5c" /><Relationship Type="http://schemas.openxmlformats.org/officeDocument/2006/relationships/notesSlide" Target="/ppt/notesSlides/notesSlide37.xml" Id="R2628b455afd848e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ffc6d2129f40d5" /><Relationship Type="http://schemas.openxmlformats.org/officeDocument/2006/relationships/image" Target="/ppt/media/image28.png" Id="R0f4a95ac8e6e4d23" /><Relationship Type="http://schemas.openxmlformats.org/officeDocument/2006/relationships/image" Target="/ppt/media/image28.svg" Id="R34278007b347490d" /><Relationship Type="http://schemas.openxmlformats.org/officeDocument/2006/relationships/image" Target="/ppt/media/image29.png" Id="R2aed5bd0dc3a4f56" /><Relationship Type="http://schemas.openxmlformats.org/officeDocument/2006/relationships/image" Target="/ppt/media/image29.svg" Id="R55ba234389de4ac3" /><Relationship Type="http://schemas.openxmlformats.org/officeDocument/2006/relationships/notesSlide" Target="/ppt/notesSlides/notesSlide38.xml" Id="R22a337ce7ffb469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1c42f18b454506" /><Relationship Type="http://schemas.openxmlformats.org/officeDocument/2006/relationships/image" Target="/ppt/media/image30.png" Id="R47c487a8e83443aa" /><Relationship Type="http://schemas.openxmlformats.org/officeDocument/2006/relationships/image" Target="/ppt/media/image30.svg" Id="R9e3fc81f89c04fdb" /><Relationship Type="http://schemas.openxmlformats.org/officeDocument/2006/relationships/notesSlide" Target="/ppt/notesSlides/notesSlide39.xml" Id="R6ae8a0d693c1462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5c8b1bb02b435a" /><Relationship Type="http://schemas.openxmlformats.org/officeDocument/2006/relationships/notesSlide" Target="/ppt/notesSlides/notesSlide40.xml" Id="Rd63af7266709451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588da256b54dcc" /><Relationship Type="http://schemas.openxmlformats.org/officeDocument/2006/relationships/notesSlide" Target="/ppt/notesSlides/notesSlide41.xml" Id="R0b49b7fdbcb242c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d61f5f2c4d4222" /><Relationship Type="http://schemas.openxmlformats.org/officeDocument/2006/relationships/notesSlide" Target="/ppt/notesSlides/notesSlide42.xml" Id="Rd79b3535b80943e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e0babf7bbe461f" /><Relationship Type="http://schemas.openxmlformats.org/officeDocument/2006/relationships/notesSlide" Target="/ppt/notesSlides/notesSlide43.xml" Id="R326b1a01ff634e0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aeaeeaa1374304" /><Relationship Type="http://schemas.openxmlformats.org/officeDocument/2006/relationships/notesSlide" Target="/ppt/notesSlides/notesSlide44.xml" Id="R40cb6489cde7456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053f70db294b01" /><Relationship Type="http://schemas.openxmlformats.org/officeDocument/2006/relationships/image" Target="/ppt/media/image31.png" Id="Rf749000b16044dac" /><Relationship Type="http://schemas.openxmlformats.org/officeDocument/2006/relationships/image" Target="/ppt/media/image31.svg" Id="R3ec980ddd2c34962" /><Relationship Type="http://schemas.openxmlformats.org/officeDocument/2006/relationships/notesSlide" Target="/ppt/notesSlides/notesSlide45.xml" Id="Rc1315a1ddb8041f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e131a0c3dc4bf9" /><Relationship Type="http://schemas.openxmlformats.org/officeDocument/2006/relationships/notesSlide" Target="/ppt/notesSlides/notesSlide46.xml" Id="R713181cc21f840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E76851-F571-4511-80E9-76C0C55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90EC113-98D6-476E-8DFC-79FE88C1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641ACC-5633-4AAB-A9C2-E5D2C1FA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6217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MFDStudio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69A0444-9D90-4736-B501-32B7AD66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261872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563EB"/>
                </a:solidFill>
              </a:rPr>
              <a:t>End-to-End Training V4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2497C5-750F-4D95-9727-3A7ABF40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475569"/>
                </a:solidFill>
              </a:rPr>
              <a:t>Tutorial edition • mfd_window • generated C++ API • UserSpaceProjector • framebuffer capture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6B3FB7D-E277-4500-879C-6CCB17E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836" y="320040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D9C2413-E749-474E-986D-95AECD54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320040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D40A081-4109-4A4D-9303-06C96516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092" y="320040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611751-E3BF-4BF1-AF90-47B73816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2574036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DDD034-2FD0-48EE-BD0A-59752366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87A3BC6-19E2-4705-B484-AC7B0160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35224"/>
            <a:ext cx="22448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AUTHOR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66C896E-1D1B-421F-B11E-9D1B6EE7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18688"/>
            <a:ext cx="22448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mfd_editor + assets/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E9D23E6-0076-4D08-9588-2BDD565C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428" y="2788920"/>
            <a:ext cx="2574036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D104068-9B04-4399-BE4E-E05C0987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428" y="278892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B1FFD9D-216B-462E-B52F-5039CC41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2935224"/>
            <a:ext cx="22448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GENERATE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8D88540-D4D3-40E6-9D2E-E69B3571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3218688"/>
            <a:ext cx="22448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Ui.h / Ui.cpp / .generated.map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7213C2C-6949-4588-8D0B-2D73E20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788920"/>
            <a:ext cx="2574036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026637B-90E0-4922-8BB7-1DBF2AA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78892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A41A379-70EA-4ABF-9C7D-D069B305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935224"/>
            <a:ext cx="22448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DRIVE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6D8BF74-A855-44D3-B02E-265B482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218688"/>
            <a:ext cx="22448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C++ client batches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B9FD901-D130-4966-9B07-BA35AAB5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84" y="2788920"/>
            <a:ext cx="2574036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93B6613-B62C-4146-8708-C425962B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84" y="278892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480CBBB-8687-4CCD-A4DD-FA80206B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76" y="2935224"/>
            <a:ext cx="22448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CAPTURE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264F917-034B-4E33-8C3D-1C069EF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76" y="3218688"/>
            <a:ext cx="22448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RGBA32 or BGRA32 plugin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326F5C9-843D-4772-96A6-89321620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1463040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970">
            <a:solidFill>
              <a:srgbClr val="2563E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CCC504D-4D27-422E-B428-3837E973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24628"/>
            <a:ext cx="124358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2563EB"/>
                </a:solidFill>
              </a:rPr>
              <a:t>larger fonts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E9A99D8-769C-4BB1-B7B3-9D93BAAD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937760"/>
            <a:ext cx="1508760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970">
            <a:solidFill>
              <a:srgbClr val="059669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7CA6C82-1C31-44E5-A5B5-AB06B85F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024628"/>
            <a:ext cx="128930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059669"/>
                </a:solidFill>
              </a:rPr>
              <a:t>step-by-step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FF33E22-70AB-43E3-8661-51C904D3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937760"/>
            <a:ext cx="1828800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970">
            <a:solidFill>
              <a:srgbClr val="D97706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77B9B82-DB27-4331-B25F-A810D3F3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024628"/>
            <a:ext cx="16093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D97706"/>
                </a:solidFill>
              </a:rPr>
              <a:t>short code blocks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78AB251-7440-4D61-BCC3-5B428AFD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937760"/>
            <a:ext cx="2057400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970">
            <a:solidFill>
              <a:srgbClr val="7C3AED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96093F-11A9-4715-9391-72FC4E6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5024628"/>
            <a:ext cx="183794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7C3AED"/>
                </a:solidFill>
              </a:rPr>
              <a:t>editable PowerPoint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CA00103-A10C-4CCA-9275-B4745BD7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F172A"/>
                </a:solidFill>
              </a:rPr>
              <a:t>Training objective: get a new user productive with mfd_window, client_mockup, generated API, and framebuffer capture.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D17707F-A3B4-4773-A3CF-746CC1C5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Aligned with current repo workflows and shipped launch scripts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E4907A8-D55B-48B0-A2FC-383334D5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3441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80BFF3A-CD3D-49CB-8E46-AE130D6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057CD9-54FC-4719-8074-A45D820E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6612C7-9097-4E99-A6CC-A0882628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How this version is different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7A408F-0592-4AF8-AE72-C3D724B3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Usage-first onboarding instead of a reference dump.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01545F8-B98E-4256-8EFE-13580F85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63902E5-A5B6-4AAD-BB11-D68971C2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9B95DE-501A-4FB0-848D-235F066F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A24C45C-E528-4A83-BAF7-9516010E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212080" cy="4434840"/>
          </a:xfrm>
          <a:prstGeom xmlns:a="http://schemas.openxmlformats.org/drawingml/2006/main" prst="roundRect">
            <a:avLst>
              <a:gd name="adj" fmla="val 1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39C2AF9-C5D6-4FF3-B9DA-3FAEAF4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73152" cy="443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F2DD193-C9F3-4CEA-8989-E2C96BBA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212080" cy="4434840"/>
          </a:xfrm>
          <a:prstGeom xmlns:a="http://schemas.openxmlformats.org/drawingml/2006/main" prst="roundRect">
            <a:avLst>
              <a:gd name="adj" fmla="val 1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D99821-9B35-40F6-8605-436FF573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73152" cy="443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8C121E7-CAFC-4322-92E9-285A3445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74520"/>
            <a:ext cx="4617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563EB"/>
                </a:solidFill>
              </a:rPr>
              <a:t>Old problem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FEFC3DD-3132-4F0A-9850-EB02A23A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23160"/>
            <a:ext cx="452628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Too much text per slide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Small code snippets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Deep reference material mixed with user steps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Hard to teach live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48FDF4F-868C-469A-A7FC-89A6633D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20"/>
            <a:ext cx="4617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563EB"/>
                </a:solidFill>
              </a:rPr>
              <a:t>V4 answer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F932E96-4ED5-41F9-884B-0B1022EE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23160"/>
            <a:ext cx="452628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One user action per slide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Code kept to short excerpts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Shipped launchers and tools first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Bigger type and more whitespace</a:t>
            </a:r>
          </a:p>
        </p:txBody>
      </p:sp>
    </p:spTree>
    <p:extLst>
      <p:ext uri="{BB962C8B-B14F-4D97-AF65-F5344CB8AC3E}">
        <p14:creationId xmlns:p14="http://schemas.microsoft.com/office/powerpoint/2010/main" val="512165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88368F3-6CC7-49D1-86DA-DAAE3E05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D38F0D-B2C6-43E8-BED7-8EDA336E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D7FA0DF-3219-4500-A9EE-AA1039BE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Learning map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F1EE06A-4C0F-4823-B907-B0490202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The deck follows the real user path from visible runtime to client integration.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C2E16F-5B55-4784-9648-6E2BB9E0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69562BE-5A30-442A-9329-335A71CB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4AD047C-3575-4621-A749-829E641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8476D6B-1994-441A-816E-BD0BD5AC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06384AA-628B-4E86-8BDC-1C11BF08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D784874-9DBA-45F0-BA24-9E70E14F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B5635F1-0070-4BC4-97F5-32FB273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Build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C3C8375-41BD-40E3-B708-1D6914B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C4DF49D-B39E-4082-A5C8-9EABDB4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DE246DD-AAC8-48A4-8624-73E386B0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19E9E6E-B3AC-4731-BA26-97E1C2EB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Author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ABAAC7B-FAA8-406B-9142-F3778D9B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14FF4E9-3CEC-4A5A-902F-6FA6D973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E21B6D9-AE7C-4AB9-BB9D-64A24329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E9E2652-8B24-4E34-9642-E2B3CB2B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Generate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F67EE96-503C-4949-AAE1-142CE65A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2E7B8A5-F209-4139-81F2-F2429AAB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782AFF7-2F02-4A21-93EB-2DB6099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3BDDBA7-7A2B-474A-8C86-E5C910C0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Drive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CC8A005-877D-49D8-AB7A-30C54514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6F811B-6DD7-449E-B5AE-4C7ADE7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AAC5B89-C340-49F8-9F63-463E1140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E80EB86-C8CC-4178-9245-841508F5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Project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0D001D0-FE48-4050-95F9-670DF07F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0D297D8-579D-4886-B767-4F62DCD9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5F7A744-5B13-43EC-8B85-71D1B030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A1394AA-06E8-4CFC-B57A-AB783B1A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5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Capture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57355E0-2F60-4F0C-AE9D-B448AC6F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110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BE22F827-E0EA-46F1-8A36-3C780CAD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013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3640F4-03D6-451F-BE01-ABF41E9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15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8450541A-5F22-45FF-AE5A-D361E3E4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818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F0CD36F-DA6D-4045-931C-6119A3A9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9A8C94B-576E-4C9A-8BCD-545AF7AC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D68B590-8198-4889-AFEA-E8B355B4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095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1. Start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95659CC-D6E9-480E-99A7-2A01F5BC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930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850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Build mfd_window, mfd_editor, client_mockup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59F91844-F0DD-4117-9D1D-126C9E6C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30632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CD70129A-0DA4-427D-9CF7-CBA85BD9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30632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4D511CED-CEE0-412F-8FCB-D7CB3478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32095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2. Model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EE28034-C92C-472C-B776-309D1846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34930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850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Window, page, reticles, title chrome, strobes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58BE6BE-4605-40E2-86AD-D0C28EB5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30632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E169C37-6983-4D51-984B-2871511F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30632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711BD61D-65A3-4C83-AAC2-64014A97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32095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3. API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D8F2F6AA-348E-4BC7-92A7-A10F4B37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34930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905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Generate typed C++ surface + map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13131CA3-7218-4217-8785-AA569849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30632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5591439A-54A9-4DB2-997F-85B0D8F6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30632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CB45E105-CBA1-4CE0-A237-8BBB229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32095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4. Client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E2162F7D-7F6D-40D3-A288-494BB195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34930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22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Send batches, then poll feedback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8FBB5FF7-DFBB-43F1-A1B4-FD367C3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30632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FAEF3C2C-57B9-4683-86C7-1AD90E49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30632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79A2D5D2-864D-448A-A4F2-5A95158C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32095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5. Pixels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C78A0F46-4E9C-4D32-9640-F4E038D0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34930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728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Framebuffer plugin or host callback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421A373A-B641-4C89-9033-ABA720C7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208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0F172A"/>
                </a:solidFill>
              </a:rPr>
              <a:t>Each topic follows the real user path: visible result → authored asset → generated API → validation.</a:t>
            </a:r>
          </a:p>
        </p:txBody>
      </p:sp>
    </p:spTree>
    <p:extLst>
      <p:ext uri="{BB962C8B-B14F-4D97-AF65-F5344CB8AC3E}">
        <p14:creationId xmlns:p14="http://schemas.microsoft.com/office/powerpoint/2010/main" val="981972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8D9F279-7919-473F-9763-3A0A2E20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A05524C-A75F-4972-8428-710EE0A5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FD88DDE-1C63-4C3C-B36B-88510611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Prerequisites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A1D6CF7-C414-4D20-9EEE-7EA36B8E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Start from one shipped runtime path before custom integration.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0B5975-E842-475E-8BEE-06211585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DD2E7E1-550C-4056-8A42-26ABD62A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2D3117-E67F-4C95-8B48-40DBD5F9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bbcc23c3c46ec">
            <a:extLst>
              <a:ext uri="{96DAC541-7B7A-43D3-8B79-37D633B846F1}">
                <asvg:svgBlip xmlns:asvg="http://schemas.microsoft.com/office/drawing/2016/SVG/main" r:embed="R44de9e80deb94a4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45920"/>
            <a:ext cx="5623560" cy="425196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EFE6D1A-A3EF-4152-8176-CA2AF3A4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45920"/>
            <a:ext cx="470916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1364E54-0163-42BB-B5A2-02B40097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45920"/>
            <a:ext cx="73152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811386B-2B3D-4704-9CD1-C4281DB5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965960"/>
            <a:ext cx="4023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59669"/>
                </a:solidFill>
              </a:rPr>
              <a:t>Success signal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68AE2C3-0A39-495D-8C58-A5897A9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60320"/>
            <a:ext cx="393192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F172A"/>
                </a:solidFill>
              </a:rPr>
              <a:t>• Start-MfdDemo.bat launches a visible window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F172A"/>
                </a:solidFill>
              </a:rPr>
              <a:t>• client_mockup activates a page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F172A"/>
                </a:solidFill>
              </a:rPr>
              <a:t>• One reticle visibly moves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F172A"/>
                </a:solidFill>
              </a:rPr>
              <a:t>• F1 opens the runtime overlay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F172A"/>
                </a:solidFill>
              </a:rPr>
              <a:t>• Start-MfdMinimal.bat exercises the sample plugin</a:t>
            </a:r>
          </a:p>
        </p:txBody>
      </p:sp>
    </p:spTree>
    <p:extLst>
      <p:ext uri="{BB962C8B-B14F-4D97-AF65-F5344CB8AC3E}">
        <p14:creationId xmlns:p14="http://schemas.microsoft.com/office/powerpoint/2010/main" val="324883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68A26-FA9C-464C-A9AA-614FE72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A0FECF-095C-4EAD-979D-F8036A4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92D25B-799E-4364-A61F-3C2BC3BB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Training scenario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9C4734-03DA-498D-8FE3-A64AC8C6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A radar-style page with live tracks, a selectable strobe and final framebuffer capture.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064C31-EAA9-4DDF-B0D1-704F59B8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BBF4A75-DD24-433E-AFFB-AF084695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A113323-BD15-429D-B4B0-F1C29D1F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33509A2-95BC-48CE-80F6-21DB7EEF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110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BB649F6-7E1B-40A6-BCF8-6655EE67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013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6E247F7-D3CD-421C-AC19-10536DF6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15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1066BEC-CE11-472B-BC50-5EEED951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818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594F05D-939B-46E2-9682-719D9137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CF67A42-9142-47B8-B132-5D76CEA2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370888-D8C8-4614-985B-9D1F7890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Radar page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1860AB1-8033-4BEB-B481-ABAEAAC8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title chrome + layers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F5B6162-A5F7-4879-9F9B-134A278E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B9AED85-DC5B-408E-8A4E-4A3A4748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CA6DCA-0C09-4EB0-85F6-0EB530FC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Track template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0963314-5522-430F-9C20-1EC1B108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dynamic reticles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6E11374-6DDF-4256-98A2-54A0B444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F79B0F0-205C-44C3-B47E-95E3D2D9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89371E3-3135-45E7-AC7A-991AED9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Strobes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4ECEAC2-58F4-46C6-B9C3-1D090090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default + designator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4FB3284-02F3-47AC-A124-50763174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726713B-A1B0-488E-92C7-438D24FA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E8C1306-6B4C-4DCE-AEBE-BBF0830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Client loop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30BDBE1-C26C-43C8-9D62-6149B7BE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project + update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61EC340-1793-42EF-8353-32B93BDC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7066A8C-79B6-4EE1-BE7A-99F9E7F1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6761DDF-E977-4B89-A8E9-6BC7AF1B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Plugin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5DD09DA-D67D-47F6-B016-FDFCACD9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consume pixels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F6A7F2C-EA90-4A21-962A-67C022E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971800"/>
            <a:ext cx="356616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25400">
            <a:solidFill>
              <a:srgbClr val="0891B2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D6E198E-69E5-4676-8AB4-DEB88EBF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401568"/>
            <a:ext cx="210312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16510">
            <a:solidFill>
              <a:srgbClr val="0891B2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9BBDBDA-3826-4250-A39E-F1DBD24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54880"/>
            <a:ext cx="292608" cy="2926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484D61F-F537-4988-8224-DD3150A9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5074920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</a:rPr>
              <a:t>ownship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FF291D25-E00D-43C5-8739-69307CE1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840480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6350">
            <a:solidFill>
              <a:srgbClr val="0F172A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4B63C396-54CD-4E10-B075-32747DA5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657600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6350">
            <a:solidFill>
              <a:srgbClr val="0F172A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7B874FF8-8F58-4148-A3B6-DEDCC3EB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337560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6350">
            <a:solidFill>
              <a:srgbClr val="0F172A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7C6FF81-19B4-4457-991D-8087E7EC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617720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6350">
            <a:solidFill>
              <a:srgbClr val="0F172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F4787A0-A035-4B2D-B4D7-C921505B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40480"/>
            <a:ext cx="1325880" cy="1143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25400">
            <a:solidFill>
              <a:srgbClr val="7C3AED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B70724A1-032E-4BD1-BF25-19269584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7424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3AED"/>
                </a:solidFill>
              </a:rPr>
              <a:t>Selectable strobe</a:t>
            </a:r>
          </a:p>
        </p:txBody>
      </p:sp>
    </p:spTree>
    <p:extLst>
      <p:ext uri="{BB962C8B-B14F-4D97-AF65-F5344CB8AC3E}">
        <p14:creationId xmlns:p14="http://schemas.microsoft.com/office/powerpoint/2010/main" val="66269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C73B46-2791-42DB-8318-73F0367F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5D9F0EE-264B-49CB-B2F9-FC2FFAE6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03CF82-B358-4D1F-B6AB-4104FE7C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Do not mix responsibilities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923A8B1-178B-43A0-877B-B5D70A97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MFDStudio stays stable because each layer owns a different problem.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AD971D-13B5-48C7-9807-F6B0431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EBD7C51-8596-47DB-975E-267779A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6E82B5B-1293-4673-970E-30159E0D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1F5C2E3-9EB5-498B-A505-1AB28852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10698480" cy="65836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106ADF-3325-4AAE-98F6-7201F874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37944"/>
            <a:ext cx="177942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563EB"/>
                </a:solidFill>
              </a:rPr>
              <a:t>Layer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E10B30-E63E-422E-B693-4D31289A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118" y="1837944"/>
            <a:ext cx="466801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563EB"/>
                </a:solidFill>
              </a:rPr>
              <a:t>Owns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98DA7CA-0240-4BF3-B719-B7B7B677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434" y="1837944"/>
            <a:ext cx="381213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563EB"/>
                </a:solidFill>
              </a:rPr>
              <a:t>Does not own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C2F1C1E-FA0F-44FD-8296-7BADBFA7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32304"/>
            <a:ext cx="10698480" cy="65836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FB7FC9-5EB5-47B7-8480-EA39B1B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32888"/>
            <a:ext cx="177942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assets/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0D14CB-8B84-49E2-AD25-8D04F031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118" y="2532888"/>
            <a:ext cx="466801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pages, reticles, title chrome, dynamic bindings, strobe catalog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8401497-BCC4-40EF-859F-08F21FAD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434" y="2532888"/>
            <a:ext cx="381213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business data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52E202B-47CD-4C7F-AE38-0C3C2482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27248"/>
            <a:ext cx="10698480" cy="65836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8734853-F2A3-403B-90FC-E7A84408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27832"/>
            <a:ext cx="177942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generated API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D734568-31DC-437A-9CE0-E4130CA0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118" y="3227832"/>
            <a:ext cx="466801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typed accessors and batch staging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D02348C-664F-4EBB-8B20-8418B775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434" y="3227832"/>
            <a:ext cx="381213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rendering engine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857F296-15AA-400F-A914-03769A00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22192"/>
            <a:ext cx="10698480" cy="65836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E72D6D2-280F-431A-98C1-910CB727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22776"/>
            <a:ext cx="177942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mfd_window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1562573-D37E-4EF6-9319-5449E24D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118" y="3922776"/>
            <a:ext cx="466801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scene state, rendering, active page, feedback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F5BDEFD-2125-4497-B414-D13D719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434" y="3922776"/>
            <a:ext cx="381213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sensor simulation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262208A-52B2-4A34-9153-AE15E922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17136"/>
            <a:ext cx="10698480" cy="65836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D48845C-FCFC-4302-A0C5-C4ECC818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617720"/>
            <a:ext cx="177942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framebuffer plugin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F769F89-D521-4280-98F5-10BC5934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118" y="4617720"/>
            <a:ext cx="466801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final RGBA32 or BGRA32 pixels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62D802F-EBF4-405C-83DD-DE78CBBC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434" y="4617720"/>
            <a:ext cx="381213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runtime commands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410A8F5-06AC-4EE9-927C-2793ADA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0F172A"/>
                </a:solidFill>
              </a:rPr>
              <a:t>Command and pixel paths stay separate on purpose.</a:t>
            </a:r>
          </a:p>
        </p:txBody>
      </p:sp>
    </p:spTree>
    <p:extLst>
      <p:ext uri="{BB962C8B-B14F-4D97-AF65-F5344CB8AC3E}">
        <p14:creationId xmlns:p14="http://schemas.microsoft.com/office/powerpoint/2010/main" val="2765708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97EF38-5AA4-4A8E-AA95-9AFB1A10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700F94-3A8E-44C9-B34C-42DE866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3342AEE-CD71-41B4-ADD2-F60DFD82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Tutorial 1 — author the page surface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0D9CE27-9EC1-42F0-B111-2D32302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Before generated C++ exists, the client-visible surface must be authored.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752E664-22E2-4CE9-91F3-63AA6B0B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236A61-3EF2-441F-BC0D-CD2F47B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3A77AB-0771-49B6-BF30-E265FC60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5C158B-1897-4FEC-961B-2E6D5F40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5E112C3-E302-42EF-B5F8-66BB4B8F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5A9E799-5ED6-4665-9366-3630A6FC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59669"/>
                </a:solidFill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DE73ABC-B503-4BDD-AAAC-FD57DA1E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Window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97F0A1-136E-4133-B9A2-D572CAD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AB56F29-242C-42AC-B785-F72C01A4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6D34AA8-372F-4C7E-B8A6-8A2CA225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59669"/>
                </a:solidFill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A9FD2B5-3B3A-42BA-9A86-B11F07B6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Page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FC5B471-F25E-42FF-BBE7-7F08758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0F1D023-579C-4E07-AB60-5574E65B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43F7BD7-CE99-48BF-A9F3-AD9A1826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59669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5EEE485-8A8E-47B5-851E-D016CA67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Title chrome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EE04A85-F20F-4915-BE93-5114FBB3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358C413-703C-4627-808E-40E6EA33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1DAAFFE-E352-47BD-9483-A1CF7345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59669"/>
                </a:solidFill>
              </a:rPr>
              <a:t>4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8400F3B-9E41-4470-9AF5-20AAE21C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Reticles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48EDCE5-334C-40D6-B8F1-BB2859B3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15DC40C-9D1E-4FB1-BB62-E2DADCC9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811754B-A371-4F4C-B36F-79BF1DA8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59669"/>
                </a:solidFill>
              </a:rPr>
              <a:t>5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C8C010B-7D2C-43FE-853F-07B89CBC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Dynamic bindings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225FA62-B0C4-4C42-8CCE-CFC297E7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29C541E-7A68-4A1E-8587-DDEA3FB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3C7300B-7B76-45A7-91AA-5306029E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59669"/>
                </a:solidFill>
              </a:rPr>
              <a:t>6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64C181E-4650-4727-8ED1-B83BB36F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5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Strobes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F2C87C6-B5DE-435C-8F9C-0673E0EC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521208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40CB13A-D234-4C22-9888-4E540A43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73152" cy="36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1E03B27-FAB5-4BD7-AB76-D4F968E6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60320"/>
            <a:ext cx="521208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8BD781B-29D3-4BF9-BDBB-192C9CE9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60320"/>
            <a:ext cx="73152" cy="36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9B33BBA-B3AB-47E2-9831-4063171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34640"/>
            <a:ext cx="4617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59669"/>
                </a:solidFill>
              </a:rPr>
              <a:t>User asks C++ to control...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90361C2-8717-4BD8-A486-6F2FB238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83280"/>
            <a:ext cx="45262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page activation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static reticle pose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text or primitive value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runtime tracks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strobe selection/capture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03DDDB3-5BA0-4E0B-88EE-95DC5BCC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34640"/>
            <a:ext cx="4617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59669"/>
                </a:solidFill>
              </a:rPr>
              <a:t>Author first...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D252357-4218-484B-B332-87A509CF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83280"/>
            <a:ext cx="45262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page name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reticle public id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exposed primitive id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dynamicReticleBindings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strobes[] catalog</a:t>
            </a:r>
          </a:p>
        </p:txBody>
      </p:sp>
    </p:spTree>
    <p:extLst>
      <p:ext uri="{BB962C8B-B14F-4D97-AF65-F5344CB8AC3E}">
        <p14:creationId xmlns:p14="http://schemas.microsoft.com/office/powerpoint/2010/main" val="1157272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888062-FDC3-494E-8BA2-5A00E5A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89542CB-1553-4273-B41D-841368D2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AB78C7-5F74-437B-8006-1DFC6E83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Page title chrome: management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9B167D3-29CA-4E71-B53D-43FC09BD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The page title is no longer a hardcoded overlay. It is authored display chrome.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269E388-E9F8-4F54-BA6F-2E3E4F08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4DF2989-DBCA-4B04-A925-A006EFC5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6C448A7-F544-418E-8795-23B65EC2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f3715b09a4cdc">
            <a:extLst>
              <a:ext uri="{96DAC541-7B7A-43D3-8B79-37D633B846F1}">
                <asvg:svgBlip xmlns:asvg="http://schemas.microsoft.com/office/drawing/2016/SVG/main" r:embed="R6990852ffbc34e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45920"/>
            <a:ext cx="5303520" cy="429768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4A0477D-6DFA-4B6F-9C1A-82C5A8F4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45920"/>
            <a:ext cx="4983480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02A92CD-1ACD-4FEA-9DCD-0B26FA14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45920"/>
            <a:ext cx="73152" cy="4297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D9903E4-9539-4989-9FDB-7FFE4EEB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38528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9669"/>
                </a:solidFill>
              </a:rPr>
              <a:t>What users can tune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79443B5-47E8-43B3-9A33-824E7E49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560320"/>
            <a:ext cx="406908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0F172A"/>
                </a:solidFill>
              </a:rPr>
              <a:t>• show / hide the title</a:t>
            </a:r>
          </a:p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0F172A"/>
                </a:solidFill>
              </a:rPr>
              <a:t>• choose none, underline or frame</a:t>
            </a:r>
          </a:p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0F172A"/>
                </a:solidFill>
              </a:rPr>
              <a:t>• set stroke color and line style</a:t>
            </a:r>
          </a:p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0F172A"/>
                </a:solidFill>
              </a:rPr>
              <a:t>• move, rotate or scale the title chrome</a:t>
            </a:r>
          </a:p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0F172A"/>
                </a:solidFill>
              </a:rPr>
              <a:t>• keep title text owned by the page</a:t>
            </a:r>
          </a:p>
        </p:txBody>
      </p:sp>
    </p:spTree>
    <p:extLst>
      <p:ext uri="{BB962C8B-B14F-4D97-AF65-F5344CB8AC3E}">
        <p14:creationId xmlns:p14="http://schemas.microsoft.com/office/powerpoint/2010/main" val="224981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709AB40-A331-4DC2-86D0-9A650ECB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7F9096-A917-44DE-A61F-CCDB1592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3B670C-F701-4FA3-946B-87E5327F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Page title tuning patterns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7B89DE2-0AE5-46C9-AEBA-F653E0A7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Use titleDisplay when the page title must be visible, hidden or styled per page.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DF07A7-6238-427B-9BA3-E641EB04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B02FBA4-FC06-428D-8512-26157CF7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03BDF8-EE81-48BE-A392-CDCD7E29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a4adeb29a47d2">
            <a:extLst>
              <a:ext uri="{96DAC541-7B7A-43D3-8B79-37D633B846F1}">
                <asvg:svgBlip xmlns:asvg="http://schemas.microsoft.com/office/drawing/2016/SVG/main" r:embed="R46a59cf7717a46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1640"/>
            <a:ext cx="5486400" cy="438912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F51B46B-F0FF-477E-BF17-1552647E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4754880" cy="438912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FFFF94B-2453-4315-80EE-A3B7E001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73152" cy="438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18CD0AD-A140-437F-A410-ED04ECBF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057400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59669"/>
                </a:solidFill>
              </a:rPr>
              <a:t>Teaching rule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7A2E683-0A10-4985-9617-BEDDB4C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51760"/>
            <a:ext cx="3840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F172A"/>
                </a:solidFill>
              </a:rPr>
              <a:t>A page title is page-owned, but its visual chrome can be tuned like an authored element.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246D20F-E784-4366-929B-543772BD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977640"/>
            <a:ext cx="3840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80">
                <a:solidFill>
                  <a:srgbClr val="0F172A"/>
                </a:solidFill>
              </a:rPr>
              <a:t>• Do not fake title with a random text reticle unless it is business content.</a:t>
            </a:r>
          </a:p>
          <a:p xmlns:a="http://schemas.openxmlformats.org/drawingml/2006/main">
            <a:pPr marL="0" indent="0">
              <a:buNone/>
            </a:pPr>
            <a:r>
              <a:rPr sz="1580">
                <a:solidFill>
                  <a:srgbClr val="0F172A"/>
                </a:solidFill>
              </a:rPr>
              <a:t>• Use titleDisplay for page title presentation.</a:t>
            </a:r>
          </a:p>
          <a:p xmlns:a="http://schemas.openxmlformats.org/drawingml/2006/main">
            <a:pPr marL="0" indent="0">
              <a:buNone/>
            </a:pPr>
            <a:r>
              <a:rPr sz="1580">
                <a:solidFill>
                  <a:srgbClr val="0F172A"/>
                </a:solidFill>
              </a:rPr>
              <a:t>• Regenerate API only if the client-visible surface changed.</a:t>
            </a:r>
          </a:p>
        </p:txBody>
      </p:sp>
    </p:spTree>
    <p:extLst>
      <p:ext uri="{BB962C8B-B14F-4D97-AF65-F5344CB8AC3E}">
        <p14:creationId xmlns:p14="http://schemas.microsoft.com/office/powerpoint/2010/main" val="1811795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5DD8ED-1F8C-4009-9D0C-0DD7F7C6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C44130-4050-4C9B-A95F-244A29F4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673499-85E2-4300-B097-D97EC51C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Expose only client-driven primitives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30D15C-11D6-4B43-BFB8-572686E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The generated API mirrors what is authored and exposed.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85A706-B834-4B12-AC57-7B67FA7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1DB08B-C7EE-4254-8297-E289438B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7F6338-57D5-4DE8-B85C-003B0B62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9b19ceddb4656">
            <a:extLst>
              <a:ext uri="{96DAC541-7B7A-43D3-8B79-37D633B846F1}">
                <asvg:svgBlip xmlns:asvg="http://schemas.microsoft.com/office/drawing/2016/SVG/main" r:embed="Rf05527a5405641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1640"/>
            <a:ext cx="5303520" cy="416052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C950680-4BF0-4804-BEEC-4E7788CF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1640"/>
            <a:ext cx="2286000" cy="416052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5B9A524-7879-496E-87DF-4C6EE0A8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1640"/>
            <a:ext cx="7315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C203E23-7692-4091-933E-739119A1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011680"/>
            <a:ext cx="1737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9669"/>
                </a:solidFill>
              </a:rPr>
              <a:t>Expose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1D76100-216E-475C-BB19-8DD76F1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606040"/>
            <a:ext cx="16459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live values</a:t>
            </a:r>
          </a:p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operator cues</a:t>
            </a:r>
          </a:p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track labels</a:t>
            </a:r>
          </a:p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gauge fills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96079AC-9543-4E90-A2EF-B043B0C6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91640"/>
            <a:ext cx="2286000" cy="416052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4CF99C4-40A3-4547-B15D-94139C4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91640"/>
            <a:ext cx="73152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B4C26DA-FCD5-43B8-8A47-A461697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011680"/>
            <a:ext cx="1737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9669"/>
                </a:solidFill>
              </a:rPr>
              <a:t>Keep internal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1298BAB-B6EF-4C6B-B747-76926176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6040"/>
            <a:ext cx="16459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decorative frames</a:t>
            </a:r>
          </a:p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background lines</a:t>
            </a:r>
          </a:p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fixed labels</a:t>
            </a:r>
          </a:p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layout helpers</a:t>
            </a:r>
          </a:p>
        </p:txBody>
      </p:sp>
    </p:spTree>
    <p:extLst>
      <p:ext uri="{BB962C8B-B14F-4D97-AF65-F5344CB8AC3E}">
        <p14:creationId xmlns:p14="http://schemas.microsoft.com/office/powerpoint/2010/main" val="1083309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43F9002-3D1F-43D4-93B2-E91A0D05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0234A6F-82E3-4D4D-91E3-B1760AD8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A40BE9-C248-4FA8-A74E-EE9C7B0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Author dynamic reticles before creating them in C++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D3F99E3-9C5F-4DCE-954B-8E3A28AB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A generated dynamic set exists only when the page declares a dynamic binding.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614590-0C4B-48A7-8E83-344445F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3D8970-A605-451E-9B7A-610F9E21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F9F82C-FCF6-4B7B-85B4-4D6800C4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9199eace24db1">
            <a:extLst>
              <a:ext uri="{96DAC541-7B7A-43D3-8B79-37D633B846F1}">
                <asvg:svgBlip xmlns:asvg="http://schemas.microsoft.com/office/drawing/2016/SVG/main" r:embed="R30ac5690326e4a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737360"/>
            <a:ext cx="5257800" cy="420624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D79AD3D-B914-40B7-94EE-693F0F0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37360"/>
            <a:ext cx="489204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21106C5-F92C-49AF-BFFB-5644D815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37360"/>
            <a:ext cx="73152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AA88584-CD52-4D7F-ACF9-0C9685A2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05740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9669"/>
                </a:solidFill>
              </a:rPr>
              <a:t>Result in generated API</a:t>
            </a:r>
          </a:p>
        </p:txBody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94a194900462f">
            <a:extLst>
              <a:ext uri="{96DAC541-7B7A-43D3-8B79-37D633B846F1}">
                <asvg:svgBlip xmlns:asvg="http://schemas.microsoft.com/office/drawing/2016/SVG/main" r:embed="R43ee6d1e0f5144a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2743200"/>
            <a:ext cx="4206240" cy="23317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28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163685-4AF0-4862-A5E7-5D071978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C67D041-8975-4AB2-9344-5E1D7EE3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CDB14F-0B12-4928-B770-1F29FA92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Multiple strobes: author the catalog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EFAA2B-D5CA-44A1-B838-E3FDF289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Current master supports a page-level strobe catalog with one active strobe.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901538-5B17-4579-A4DD-C0C22FB3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941CF79-57F9-43C9-A6DA-1F2617B0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3DD253-67CF-48C7-BC13-78C6374B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37de5bc8447b2">
            <a:extLst>
              <a:ext uri="{96DAC541-7B7A-43D3-8B79-37D633B846F1}">
                <asvg:svgBlip xmlns:asvg="http://schemas.microsoft.com/office/drawing/2016/SVG/main" r:embed="R0e1daf70b2eb47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576072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C5D1B6F-18FE-4CA6-A6EF-F96B694E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645920"/>
            <a:ext cx="44805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6087CF8-4510-4DB4-9FCE-4F501F5A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645920"/>
            <a:ext cx="73152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D3FD004-B24E-464F-A595-4340F98A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9659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7C3AED"/>
                </a:solidFill>
              </a:rPr>
              <a:t>Mental model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631CFB9-B284-4E09-BA32-20556E1D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560320"/>
            <a:ext cx="3657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a page can define several named strobes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only one is active at a time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selection is runtime-controlled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feedback reports the selected active strobe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invalid selection must not partially update state</a:t>
            </a:r>
          </a:p>
        </p:txBody>
      </p:sp>
    </p:spTree>
    <p:extLst>
      <p:ext uri="{BB962C8B-B14F-4D97-AF65-F5344CB8AC3E}">
        <p14:creationId xmlns:p14="http://schemas.microsoft.com/office/powerpoint/2010/main" val="14915194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EB228A7-2101-4DCB-94A5-F15484F9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8B660B8-58DA-492B-A7DC-73487E49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05AD32-642F-4E2B-AEE5-A5A01C73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Multiple strobes: tune capture and magnetization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A317305-55E0-40E0-8B64-0D536DE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Different strobe variants can use different shapes and capture rules.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A33AE3-9B67-48BB-B60C-BCC0EC30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3FC8FC4-EADA-4E4B-B9A8-2E0A8A6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987DE0B-6ADF-410C-81F9-6A65E777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ee19e453b4c92">
            <a:extLst>
              <a:ext uri="{96DAC541-7B7A-43D3-8B79-37D633B846F1}">
                <asvg:svgBlip xmlns:asvg="http://schemas.microsoft.com/office/drawing/2016/SVG/main" r:embed="R6a3a4890633b47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54480"/>
            <a:ext cx="5669280" cy="470916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94B4983-587D-4D4A-B974-8C840169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554480"/>
            <a:ext cx="4572000" cy="470916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31CEAB2-30BF-486C-B82B-16F7C11C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554480"/>
            <a:ext cx="73152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CD70F2D-CDDD-4D01-87C9-00010BF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7C3AED"/>
                </a:solidFill>
              </a:rPr>
              <a:t>Tuning knobs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5702EC-BC2E-43DF-A41C-F0D2FDF0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468880"/>
            <a:ext cx="3657600" cy="2880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capture shape: circle or rectangle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radius and size determine target search area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magnet can snap to nearby dynamic reticles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visual template stays independent from capture shape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client receives resolved state via feedback</a:t>
            </a:r>
          </a:p>
        </p:txBody>
      </p:sp>
    </p:spTree>
    <p:extLst>
      <p:ext uri="{BB962C8B-B14F-4D97-AF65-F5344CB8AC3E}">
        <p14:creationId xmlns:p14="http://schemas.microsoft.com/office/powerpoint/2010/main" val="18717290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4ADA4CD-7B3F-4751-83DF-C9832462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AA3601-84EE-43E6-9383-092F922A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D53E3F-CF60-4D0E-A549-B5DC9B0B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Tutorial 2 — generate the typed C++ API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B9D22F-3971-4321-9B43-0C52654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Use client_api_generate_ui(...) so CMake tracks JSON dependencies.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3A503A-9DFE-4A23-B705-201C2CA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1DF9DD-AC5F-42E4-B83C-5DDEA5FE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4A06F7-F25F-469D-93A1-CC959AE8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dd503ccf34087">
            <a:extLst>
              <a:ext uri="{96DAC541-7B7A-43D3-8B79-37D633B846F1}">
                <asvg:svgBlip xmlns:asvg="http://schemas.microsoft.com/office/drawing/2016/SVG/main" r:embed="R6901f16de22a4f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45920"/>
            <a:ext cx="6217920" cy="425196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77788DE-BDEF-4B2C-8CD6-19651706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45920"/>
            <a:ext cx="4069080" cy="4251960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B720DD3-A192-469C-BE60-52130C93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45920"/>
            <a:ext cx="73152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EEB45A9-AF71-45DF-A9EC-0067AE4A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96596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7706"/>
                </a:solidFill>
              </a:rPr>
              <a:t>Why it matters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BDBC4A-756C-4C25-8355-CD9C64B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560320"/>
            <a:ext cx="32918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0F172A"/>
                </a:solidFill>
              </a:rPr>
              <a:t>• discovers pages, reticles and dynamic sets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0F172A"/>
                </a:solidFill>
              </a:rPr>
              <a:t>• writes Ui.h, Ui.cpp and .generated.map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0F172A"/>
                </a:solidFill>
              </a:rPr>
              <a:t>• embeds mappingHash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0F172A"/>
                </a:solidFill>
              </a:rPr>
              <a:t>• keeps generated code in sync with JSON changes</a:t>
            </a:r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0F172A"/>
                </a:solidFill>
              </a:rPr>
              <a:t>• prevents stale client/runtime contracts</a:t>
            </a:r>
          </a:p>
        </p:txBody>
      </p:sp>
    </p:spTree>
    <p:extLst>
      <p:ext uri="{BB962C8B-B14F-4D97-AF65-F5344CB8AC3E}">
        <p14:creationId xmlns:p14="http://schemas.microsoft.com/office/powerpoint/2010/main" val="17107913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69A017-40A5-4231-9A71-46B679A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A1E707C-D52C-4095-8A27-E7FA9C6D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358536-CF4A-4794-AD45-6BF4B96C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Regenerate when the client-visible surface changes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3D49AA-2A2F-4C77-9838-25121474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This is an interface rebuild, not a cosmetic step.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C4B39-095F-41A9-884D-43FECCF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2FF1E98-0B55-44A6-A7F1-88E3A06E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D566BAC-D5F1-47EB-B055-0C64C90D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650442D-7BEE-4DF7-8F35-9D4BCCD4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10789920" cy="59436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0535A2A-C8DD-478B-855E-7B3BCAE6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46504"/>
            <a:ext cx="3522269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D97706"/>
                </a:solidFill>
              </a:rPr>
              <a:t>Change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898BBF-D2A7-4A56-BDDD-71516767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245" y="1746504"/>
            <a:ext cx="1795882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D97706"/>
                </a:solidFill>
              </a:rPr>
              <a:t>Regenerate?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C1388CD-E25C-4915-87A1-87E2C8D6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430" y="1746504"/>
            <a:ext cx="503285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D97706"/>
                </a:solidFill>
              </a:rPr>
              <a:t>Reason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EA3A665-87A7-44CE-AD7E-96D1FCA2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76856"/>
            <a:ext cx="10789920" cy="59436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6C150D0-4F27-4D8C-B501-D2C83A9C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77440"/>
            <a:ext cx="3522269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 name or default page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D61478-D459-4DE8-83E1-1263FDA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245" y="2377440"/>
            <a:ext cx="1795882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yes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C242B9D-40F4-4D74-9FA6-26F407C6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430" y="2377440"/>
            <a:ext cx="503285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 wrapper/ids can change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B275184-9E96-4C29-A01A-11DC8462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07792"/>
            <a:ext cx="10789920" cy="59436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BA191C6-A644-4229-AD8F-9A890834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08376"/>
            <a:ext cx="3522269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static reticle public id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EEBC5DE-C53E-49C6-88BD-0CBAF9D7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245" y="3008376"/>
            <a:ext cx="1795882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yes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886A2E3-B152-420E-B174-E95C5663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430" y="3008376"/>
            <a:ext cx="503285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accessor and transport id change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E99AC3-8850-4D51-855E-8AF41B04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38728"/>
            <a:ext cx="10789920" cy="59436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BE5EDC9-B108-40F3-B275-6A518678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39312"/>
            <a:ext cx="3522269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exposed primitive id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7ED9A60-34D0-4F1A-AD7A-ED014CD9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245" y="3639312"/>
            <a:ext cx="1795882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yes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BEC4F0E-7380-4D89-807B-236B965C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430" y="3639312"/>
            <a:ext cx="503285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primitive handle changes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6B45705-F36F-44B5-A070-0590E9AB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4"/>
            <a:ext cx="10789920" cy="59436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2F37E60-99BE-4F95-9920-24EB4E5A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70248"/>
            <a:ext cx="3522269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dynamic binding or template id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00271A-7EFB-4BBC-9B90-97381D7A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245" y="4270248"/>
            <a:ext cx="1795882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yes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C7FEC42-79B5-4EA8-B378-DB3490BA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430" y="4270248"/>
            <a:ext cx="503285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dynamic set changes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1AB0C4C-535F-449D-A4E9-2A9E09E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10789920" cy="59436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8F09275-360D-4EE5-803E-579AD66E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01184"/>
            <a:ext cx="3522269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titleDisplay color/decoration only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FFFCBE4-231C-4A25-92F1-F1F5D645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245" y="4901184"/>
            <a:ext cx="1795882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usually no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0345A34-CD93-4A9E-A9AA-65810F13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430" y="4901184"/>
            <a:ext cx="503285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visual JSON only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402CD2C-3055-4C48-B5F0-B7249455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31536"/>
            <a:ext cx="10789920" cy="59436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191C183-FBBE-471F-A79E-6742CBDA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32120"/>
            <a:ext cx="3522269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non-exposed geometry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C3F9FCC-C2C6-4494-A1DB-22E2CD8C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245" y="5532120"/>
            <a:ext cx="1795882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usually no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6C7C9F6-DEB2-459A-8C26-B04BAF8A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430" y="5532120"/>
            <a:ext cx="503285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not client-visible</a:t>
            </a:r>
          </a:p>
        </p:txBody>
      </p:sp>
    </p:spTree>
    <p:extLst>
      <p:ext uri="{BB962C8B-B14F-4D97-AF65-F5344CB8AC3E}">
        <p14:creationId xmlns:p14="http://schemas.microsoft.com/office/powerpoint/2010/main" val="3578599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A6D2897-C0C1-4A83-89CA-1613E055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B1BD4A3-B709-4D72-B7EE-6366DC6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1E2E5F-4264-4E1A-87BA-E9928E18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Generated API object tree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A9BF8D-0E1F-486D-A33F-FA9EF27D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Generated C++ keeps product code away from transport ids.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16B755-50E0-4ED7-A89D-F8E11726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76DDC89-7B45-4C57-A5B5-DD6BFED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A36383-2318-48AE-98DA-4519C974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67335B-2E26-4988-B4B2-F29FD108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110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7706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1FEA05F-55CF-4227-85F0-316850D5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013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7706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C402C3-7BBD-4061-95E0-0B9B266C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15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7706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C1378D-6EFC-485C-9F81-E9078C4E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818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7706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5EC1089-C597-425C-A1E8-74378BBC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AC57C9C-54EB-4649-A9E3-DF29CD8D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A42296B-89C2-4EE0-91A5-69E5C896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D97706"/>
                </a:solidFill>
              </a:rPr>
              <a:t>TutorialUi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5AC5E0-282C-4F32-BFE9-60FEB70D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root + batch builder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2D692FC-947E-4A6A-80B0-7A89C2C8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E344D2-0C62-436F-B914-90226FA5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21FAC0D-0EAB-45C6-9956-82661D81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D97706"/>
                </a:solidFill>
              </a:rPr>
              <a:t>Page1()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5CC8F1-B920-46AB-937A-FC1A8BD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page wrapper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7921D7C-A203-408D-85E0-5423DA1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5046210-215B-41FF-B581-958F387B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165636A-A6D9-4AA1-A2A8-537D8860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D97706"/>
                </a:solidFill>
              </a:rPr>
              <a:t>static reticles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5226664-B8CC-4C6F-A933-66E31877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authored instances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AD16048-3719-48A2-8F9B-F51C8ADF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4508EA5-A401-4D4F-8672-83D985EF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83E9FB8-E833-4C5D-9634-0ED74148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D97706"/>
                </a:solidFill>
              </a:rPr>
              <a:t>dynamic sets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1FB6DF1-3765-4947-B184-8078DDF1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runtime objects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F412454-20E2-4BC9-AADC-7FF6A565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3BDF117-FA7D-4D08-9BAB-63807F49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B88DC11-2C97-446D-957E-3AEFC99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D97706"/>
                </a:solidFill>
              </a:rPr>
              <a:t>strobe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10A51B1-B976-4289-965C-43DA24D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active type + feedback</a:t>
            </a:r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c222cec0f492b">
            <a:extLst>
              <a:ext uri="{96DAC541-7B7A-43D3-8B79-37D633B846F1}">
                <asvg:svgBlip xmlns:asvg="http://schemas.microsoft.com/office/drawing/2016/SVG/main" r:embed="R05c4a40cb3b54f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3429000"/>
            <a:ext cx="9144000" cy="21031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700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87E4B4-0F44-4485-9755-2141C605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7EEEB7-64EA-44B1-93BD-50117154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81064E-D48A-43AB-AE5B-F1B0D11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Tutorial 3 — bootstrap the live client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1AA987-7606-4BD8-953D-2C7C9AC6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Load the window transport and the .generated.map, then drive generated handles.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30AF680-1768-440C-BFCA-65F0B0A5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1E08E30-7D7F-41D5-946F-AA6F0B2E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0D73063-EBED-46CD-9E63-E2CAB466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bed4e91fb4aa2">
            <a:extLst>
              <a:ext uri="{96DAC541-7B7A-43D3-8B79-37D633B846F1}">
                <asvg:svgBlip xmlns:asvg="http://schemas.microsoft.com/office/drawing/2016/SVG/main" r:embed="R1fd717491cff4e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585216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76DBFE8-D28C-4E59-BD3C-8DFF4275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4297680" cy="4572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22FD5A3-8009-44B1-8583-68491637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73152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C0BF101-4C57-46AB-8C50-C740968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2024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2563EB"/>
                </a:solidFill>
              </a:rPr>
              <a:t>First checks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728DF36-3B23-4D81-ACC6-0CEC7888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514600"/>
            <a:ext cx="333756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UDP command transport exists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generated .map sidecar exists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client.IsReady() succeeds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mfd_window uses the same assets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mappingHash matches</a:t>
            </a:r>
          </a:p>
        </p:txBody>
      </p:sp>
    </p:spTree>
    <p:extLst>
      <p:ext uri="{BB962C8B-B14F-4D97-AF65-F5344CB8AC3E}">
        <p14:creationId xmlns:p14="http://schemas.microsoft.com/office/powerpoint/2010/main" val="1229575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3A02017-2F71-4458-AF72-A20EEFF8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D2BAC35-AE7C-42E2-8CD4-4E2E7E18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2C02C0-8798-4871-A85B-8919A144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Live loop: mutate locally, send once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397B54-030D-47E3-A7A6-12E4DB7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Mutate generated handles locally, then send one BuildCommandBatch(sequence) per cycle.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DD31D1-55D2-4315-B0BD-D82DC8D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ED27426-F3CC-4977-BF89-0732338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97B4ACD-AA10-4593-B9C0-7B247C4A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fcd28e2984a93">
            <a:extLst>
              <a:ext uri="{96DAC541-7B7A-43D3-8B79-37D633B846F1}">
                <asvg:svgBlip xmlns:asvg="http://schemas.microsoft.com/office/drawing/2016/SVG/main" r:embed="R04bdbaefe25f47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91640"/>
            <a:ext cx="5897880" cy="443484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C596119-1F10-4872-A132-72EE170D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691640"/>
            <a:ext cx="4297680" cy="443484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C44A6BE-E621-4A6D-80AC-7C6E44B2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691640"/>
            <a:ext cx="73152" cy="443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6C1C8EB-9CD6-4BE5-BEBF-2CA8810D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168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2563EB"/>
                </a:solidFill>
              </a:rPr>
              <a:t>Result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E6A79E3-6E18-42F3-8C4D-CB8791EE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606040"/>
            <a:ext cx="333756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30">
                <a:solidFill>
                  <a:srgbClr val="0F172A"/>
                </a:solidFill>
              </a:rPr>
              <a:t>• coherent frame update</a:t>
            </a:r>
          </a:p>
          <a:p xmlns:a="http://schemas.openxmlformats.org/drawingml/2006/main">
            <a:pPr marL="0" indent="0">
              <a:buNone/>
            </a:pPr>
            <a:r>
              <a:rPr sz="1730">
                <a:solidFill>
                  <a:srgbClr val="0F172A"/>
                </a:solidFill>
              </a:rPr>
              <a:t>• mappingHash and sequence attached once</a:t>
            </a:r>
          </a:p>
          <a:p xmlns:a="http://schemas.openxmlformats.org/drawingml/2006/main">
            <a:pPr marL="0" indent="0">
              <a:buNone/>
            </a:pPr>
            <a:r>
              <a:rPr sz="1730">
                <a:solidFill>
                  <a:srgbClr val="0F172A"/>
                </a:solidFill>
              </a:rPr>
              <a:t>• lower UDP pressure</a:t>
            </a:r>
          </a:p>
          <a:p xmlns:a="http://schemas.openxmlformats.org/drawingml/2006/main">
            <a:pPr marL="0" indent="0">
              <a:buNone/>
            </a:pPr>
            <a:r>
              <a:rPr sz="1730">
                <a:solidFill>
                  <a:srgbClr val="0F172A"/>
                </a:solidFill>
              </a:rPr>
              <a:t>• clear debug boundary</a:t>
            </a:r>
          </a:p>
          <a:p xmlns:a="http://schemas.openxmlformats.org/drawingml/2006/main">
            <a:pPr marL="0" indent="0">
              <a:buNone/>
            </a:pPr>
            <a:r>
              <a:rPr sz="1730">
                <a:solidFill>
                  <a:srgbClr val="0F172A"/>
                </a:solidFill>
              </a:rPr>
              <a:t>• easier replay/testing</a:t>
            </a:r>
          </a:p>
        </p:txBody>
      </p:sp>
    </p:spTree>
    <p:extLst>
      <p:ext uri="{BB962C8B-B14F-4D97-AF65-F5344CB8AC3E}">
        <p14:creationId xmlns:p14="http://schemas.microsoft.com/office/powerpoint/2010/main" val="7649913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2D1C-7ED4-4431-B920-363AECAD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DAACA56-0428-46EF-BA47-CB0CFE4A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C2300A-DE36-4FF4-AA79-06FA2037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Window controls from generated root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F64012-60F7-4782-98F2-9876B6F0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Use these for whole-display state.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1ECDDEC-779C-471C-BC64-871BA78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AC8E6E-EC19-4E0E-BD7A-9388F4E8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CB4C89-3051-4287-A963-F3C4FEAC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d6b2e7f724214">
            <a:extLst>
              <a:ext uri="{96DAC541-7B7A-43D3-8B79-37D633B846F1}">
                <asvg:svgBlip xmlns:asvg="http://schemas.microsoft.com/office/drawing/2016/SVG/main" r:embed="Rd82c8f42fd924b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1737360"/>
            <a:ext cx="5029200" cy="393192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90C203D-506E-4918-A4C4-68A08369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466344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4D93513-3AFD-486C-8931-285CB375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929384"/>
            <a:ext cx="181234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563EB"/>
                </a:solidFill>
              </a:rPr>
              <a:t>Setter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B102A52-ADCD-4665-93FB-00A8644C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1929384"/>
            <a:ext cx="255849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563EB"/>
                </a:solidFill>
              </a:rPr>
              <a:t>Use case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65D36F4-75B6-4D99-B680-96BCEF83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8608"/>
            <a:ext cx="466344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A6F5579-297A-4588-AE65-E6744F12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679192"/>
            <a:ext cx="181234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SetBrightness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12A1CCF-6FFA-4505-9F3F-92A4C9F4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2679192"/>
            <a:ext cx="255849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dimming / day-night adaptation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4A4AD88-2D9F-431F-A341-C53C213F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28416"/>
            <a:ext cx="466344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5493189-2251-4DA6-B2EB-65902D67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429000"/>
            <a:ext cx="181234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SetColorInverted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BEA9629-70B2-49EE-AE69-EEED15CC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3429000"/>
            <a:ext cx="255849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night mode / contrast inversion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13621E8-B0C0-4A75-9FF2-BF3E3B4F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8224"/>
            <a:ext cx="466344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0F8AD5C-0D55-4EF3-8286-E03246C9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178808"/>
            <a:ext cx="181234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SetDisabled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14289D6-0920-413C-9B19-20AEC941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4178808"/>
            <a:ext cx="255849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blackout while runtime stays alive</a:t>
            </a:r>
          </a:p>
        </p:txBody>
      </p:sp>
    </p:spTree>
    <p:extLst>
      <p:ext uri="{BB962C8B-B14F-4D97-AF65-F5344CB8AC3E}">
        <p14:creationId xmlns:p14="http://schemas.microsoft.com/office/powerpoint/2010/main" val="10869567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C13BC0-2A7A-4B0B-AC97-CCD310A1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DC4929-A6CD-436B-BC95-AA1C90B2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7386E0-B7C1-40C0-AE8F-8B309F8B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Page activation and view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4954CA-53C3-490E-AFF1-3840EC9D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Page operations use generated page wrappers.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1E9176-3C15-47ED-B5F4-4B81CB74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782406B-AAB6-4CAB-833F-5427C747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90DD9DA-9475-48D2-848D-3A250DD3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9e2363fe14df5">
            <a:extLst>
              <a:ext uri="{96DAC541-7B7A-43D3-8B79-37D633B846F1}">
                <asvg:svgBlip xmlns:asvg="http://schemas.microsoft.com/office/drawing/2016/SVG/main" r:embed="Rea47cec5ce8845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91640"/>
            <a:ext cx="5989320" cy="43434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CD94AFC-56D3-4E76-AAF8-86E303A6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1640"/>
            <a:ext cx="4160520" cy="434340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9452668-F703-404B-9E5D-FC203083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1640"/>
            <a:ext cx="73152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030C4EB-1B7A-4D92-BFAA-79ECD3B7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1168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2563EB"/>
                </a:solidFill>
              </a:rPr>
              <a:t>Rules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91D93C5-7FD4-4E2B-B24C-378299E4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606040"/>
            <a:ext cx="329184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activate only on context changes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view center is page-space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feedback makes IsActive authoritative</a:t>
            </a:r>
          </a:p>
          <a:p xmlns:a="http://schemas.openxmlformats.org/drawingml/2006/main">
            <a:pPr marL="0" indent="0">
              <a:buNone/>
            </a:pPr>
            <a:r>
              <a:rPr sz="1680">
                <a:solidFill>
                  <a:srgbClr val="0F172A"/>
                </a:solidFill>
              </a:rPr>
              <a:t>• avoid raw page names in product code</a:t>
            </a:r>
          </a:p>
        </p:txBody>
      </p:sp>
    </p:spTree>
    <p:extLst>
      <p:ext uri="{BB962C8B-B14F-4D97-AF65-F5344CB8AC3E}">
        <p14:creationId xmlns:p14="http://schemas.microsoft.com/office/powerpoint/2010/main" val="2195404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CE0F847-DCBE-412F-A1BD-A72431B7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EA304E3-C1D2-4E23-B401-49F4A11B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D6BFC3-D93E-49DC-A8E4-F038F05C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Static reticle: pose and appearance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F22621-B814-4A84-A90A-8411DF54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Static reticles are authored instances. Generated code controls runtime state.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FC0449-05D7-4042-B3B8-D3B980C2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209367-F328-4787-93AD-C0BCC94C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48C9D4-2188-403C-8E06-54CB1E6C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28dd22eef4c70">
            <a:extLst>
              <a:ext uri="{96DAC541-7B7A-43D3-8B79-37D633B846F1}">
                <asvg:svgBlip xmlns:asvg="http://schemas.microsoft.com/office/drawing/2016/SVG/main" r:embed="R6d415b0a0cde47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585216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2900920-95FA-42A2-9CF8-9C44DEE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4343400" cy="45720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018E4E1-6D31-4356-A9DB-86A71015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73152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4B064C4-309A-41B8-91E0-8C5E89BE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2024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2563EB"/>
                </a:solidFill>
              </a:rPr>
              <a:t>When to use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745DADA-38BD-4EC2-A999-2FFD9B2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514600"/>
            <a:ext cx="32918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fixed aircraft symbol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status box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cursor decoration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waypoint marker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page-local instrument element</a:t>
            </a:r>
          </a:p>
        </p:txBody>
      </p:sp>
    </p:spTree>
    <p:extLst>
      <p:ext uri="{BB962C8B-B14F-4D97-AF65-F5344CB8AC3E}">
        <p14:creationId xmlns:p14="http://schemas.microsoft.com/office/powerpoint/2010/main" val="13120337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B8350EB-F20F-4AB9-8F99-0C2C2CC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C06393-4B81-4319-9F59-B99DADF4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8A0050-EEC0-412D-B613-456FA99B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Exposed text primitive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E29A3C-E0E8-4FF5-97C2-0A06C681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Text accessors live under their owning reticle.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CE5A08-D541-4BCC-9137-D7CCB4F5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FBAD8ED-EAA1-48A9-B8F3-8885FEC9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B933F6-A84B-400C-85CD-053B8E18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cf04449b84ebf">
            <a:extLst>
              <a:ext uri="{96DAC541-7B7A-43D3-8B79-37D633B846F1}">
                <asvg:svgBlip xmlns:asvg="http://schemas.microsoft.com/office/drawing/2016/SVG/main" r:embed="Rf5eb99f29c3c48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1691640"/>
            <a:ext cx="5303520" cy="41148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C8CC616-5646-48B1-B1F9-40DB0242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466344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5EEB310-94AF-4FAA-94FC-A7B38782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73152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7C04BBB-70E5-4EB4-A312-623A275D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011680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2563EB"/>
                </a:solidFill>
              </a:rPr>
              <a:t>Teaching point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56CAB70-5A05-491F-B010-575C35BF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51760"/>
            <a:ext cx="37947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F172A"/>
                </a:solidFill>
              </a:rPr>
              <a:t>If ValueText() is missing, the primitive was not exposed or the API was not regenerated.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E8AD517-2EBB-4AB7-95C8-3B0CD5E5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160520"/>
            <a:ext cx="3749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expose stable primitive ids</a:t>
            </a:r>
          </a:p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keep decorative text internal</a:t>
            </a:r>
          </a:p>
          <a:p xmlns:a="http://schemas.openxmlformats.org/drawingml/2006/main">
            <a:pPr marL="0" indent="0">
              <a:buNone/>
            </a:pPr>
            <a:r>
              <a:rPr sz="1560">
                <a:solidFill>
                  <a:srgbClr val="0F172A"/>
                </a:solidFill>
              </a:rPr>
              <a:t>• send one batch after all labels are updated</a:t>
            </a:r>
          </a:p>
        </p:txBody>
      </p:sp>
    </p:spTree>
    <p:extLst>
      <p:ext uri="{BB962C8B-B14F-4D97-AF65-F5344CB8AC3E}">
        <p14:creationId xmlns:p14="http://schemas.microsoft.com/office/powerpoint/2010/main" val="15782536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E19E650-F8FC-47D3-BB89-71AF86B7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37F5ED-C8AB-453D-82C6-CBA69ED6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773CC09-CA9D-4D3E-A430-756BCC47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Exposed geometry primitive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5C1F18-EE52-4768-90DF-CBA7286F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A primitive handle is ideal for gauges, bars, cues and editable sub-shapes.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20B3FD9-4099-43C6-B119-2B1A6A8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E526F2D-6F29-444B-BED6-BC1E8039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A00EBFF-9C43-43F2-B8D9-DD236FB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a19f4ceae4814">
            <a:extLst>
              <a:ext uri="{96DAC541-7B7A-43D3-8B79-37D633B846F1}">
                <asvg:svgBlip xmlns:asvg="http://schemas.microsoft.com/office/drawing/2016/SVG/main" r:embed="R971117d0284a4d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91640"/>
            <a:ext cx="6217920" cy="443484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C04366D-D395-4E36-87AE-5B623602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91640"/>
            <a:ext cx="3840480" cy="443484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886C73A-5C67-4C1C-A939-F961B70E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91640"/>
            <a:ext cx="73152" cy="443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0FB0112-C478-4C1E-BFE4-F0489F24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011680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2563EB"/>
                </a:solidFill>
              </a:rPr>
              <a:t>Shared setters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B6277B6-487D-4FD1-9EE3-5D65FC2A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606040"/>
            <a:ext cx="30175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F172A"/>
                </a:solidFill>
              </a:rPr>
              <a:t>• SetVisible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F172A"/>
                </a:solidFill>
              </a:rPr>
              <a:t>• SetPosition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F172A"/>
                </a:solidFill>
              </a:rPr>
              <a:t>• SetRotationDegrees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F172A"/>
                </a:solidFill>
              </a:rPr>
              <a:t>• SetScale / SetSize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F172A"/>
                </a:solidFill>
              </a:rPr>
              <a:t>• SetColor / SetFillColor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F172A"/>
                </a:solidFill>
              </a:rPr>
              <a:t>• SetThickness / SetLineStyle</a:t>
            </a:r>
          </a:p>
        </p:txBody>
      </p:sp>
    </p:spTree>
    <p:extLst>
      <p:ext uri="{BB962C8B-B14F-4D97-AF65-F5344CB8AC3E}">
        <p14:creationId xmlns:p14="http://schemas.microsoft.com/office/powerpoint/2010/main" val="9864105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A1D78A-CB98-4008-BB60-C91EA719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DFA1291-BA8D-4CAC-8722-415B604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94CCB4-BBAB-4363-B885-665C92F6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Primitive family map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F36659-1123-4442-B028-72F3F8DC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The exact accessor names come from authored ids; the concepts are stable.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2F3A20-434D-440B-80EB-9A31D972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491DB4F-CC78-4FE0-A78F-AD48CCD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7F292AF-20AB-4113-B04E-2C7CEDF1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0E0A227-3CA3-45EF-9C48-5E1CE283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4954E3-A555-4BB6-B862-70BF58EB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746504"/>
            <a:ext cx="34911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563EB"/>
                </a:solidFill>
              </a:rPr>
              <a:t>Family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6AC7D1E-46B6-4F71-9542-9798B011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75" y="1746504"/>
            <a:ext cx="69146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563EB"/>
                </a:solidFill>
              </a:rPr>
              <a:t>Typical use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C881C5-80DD-4E19-BC9D-1F8A0CA1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04288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C966122-6AD3-46BC-B288-DB835FDE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04872"/>
            <a:ext cx="34911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Text / Time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1F149E0-F7BE-4DFD-8B41-AE932D00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75" y="2404872"/>
            <a:ext cx="69146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labels, numeric values, clock widgets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3CEA561-F623-495A-9BAA-FBB97BFA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62656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59A30C-A466-4A5E-897B-12702641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4911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Line / Polyline / Bezier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E3F4D8-8B7F-4409-BFD2-338BD24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75" y="3063240"/>
            <a:ext cx="69146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needles, cues, tracks, paths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439240-ADA3-49E5-96F2-FC64887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21024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6788FB-0806-4AF9-AC5B-F43E04C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721608"/>
            <a:ext cx="34911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Circle / Ring / Arc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B765468-B4DF-41E4-8408-9023EFB5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75" y="3721608"/>
            <a:ext cx="69146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range rings, capture zones, sectors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C04B7EB-8825-4D07-8806-3677611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7A513D5-3157-47EB-BDCE-0C7C6E73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79976"/>
            <a:ext cx="34911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Rectangle / Ellipse / Square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D22F018-8A7C-41ED-9DF2-9324A492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75" y="4379976"/>
            <a:ext cx="69146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bars, panels, symbol bodies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F9D8989-92BB-46DA-A014-F220CEFD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37760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FE0E2A2-610F-442F-8EED-64606BD7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038344"/>
            <a:ext cx="34911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Diamond / Triangle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231D998-8188-4640-9297-4C489034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75" y="5038344"/>
            <a:ext cx="69146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waypoints, targets, arrows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F6818BA-208A-445C-B0B1-F189DBE8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96128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A52B2A9-54BB-4EA2-8001-EC4AF7F9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696712"/>
            <a:ext cx="34911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Image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D3B80EE-CE88-4400-922F-722F6A4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75" y="5696712"/>
            <a:ext cx="691469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authored bitmap moved/scaled at runtime</a:t>
            </a:r>
          </a:p>
        </p:txBody>
      </p:sp>
    </p:spTree>
    <p:extLst>
      <p:ext uri="{BB962C8B-B14F-4D97-AF65-F5344CB8AC3E}">
        <p14:creationId xmlns:p14="http://schemas.microsoft.com/office/powerpoint/2010/main" val="9715721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BA1DF23-A10D-41F6-8F88-54E4CDD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46A039-0D7A-4163-823F-5E5C5FF6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65B3E37-5A64-464F-8D98-BAA4D783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Dynamic reticle: create and update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24395E-77F9-4BC5-A7A5-0D00C00B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Generated dynamic sets hide internal runtime ids.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3DD831-3A0F-4C88-9E14-107BFC9D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767F772-A3CD-4546-A5C7-9435652F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45DB1C-A58A-4CA4-B692-F8160229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9960b06dd49dd">
            <a:extLst>
              <a:ext uri="{96DAC541-7B7A-43D3-8B79-37D633B846F1}">
                <asvg:svgBlip xmlns:asvg="http://schemas.microsoft.com/office/drawing/2016/SVG/main" r:embed="Rc8cf7aa67dbf48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630936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C8E7FD5-6C85-4419-84A0-8941855E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00200"/>
            <a:ext cx="3886200" cy="4572000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9EEC4E7-D1DF-400A-8B87-39C52B7D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00200"/>
            <a:ext cx="73152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81705C2-E962-459D-BBC6-07E0BF44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920240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2563EB"/>
                </a:solidFill>
              </a:rPr>
              <a:t>Use for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E46E704-C935-4DCE-9CE9-AD8F9EFC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514600"/>
            <a:ext cx="29718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radar tracks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route points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temporary cues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contact labels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objects that appear and disappear</a:t>
            </a:r>
          </a:p>
        </p:txBody>
      </p:sp>
    </p:spTree>
    <p:extLst>
      <p:ext uri="{BB962C8B-B14F-4D97-AF65-F5344CB8AC3E}">
        <p14:creationId xmlns:p14="http://schemas.microsoft.com/office/powerpoint/2010/main" val="19403995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03B98D-6C2C-4DE2-A23E-F923A86D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60F15F6-3069-4C55-A418-8F5A2CE9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20DA6E-1DB3-4D65-951D-062EF7FA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Dynamic reticle lifecycle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A153F0-991C-4C55-8349-9E8C837F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Keep domain identity separate from generated handle identity.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1BE82CB-EC5D-416D-A6FB-24927ED9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6D6509-D2E8-4DCE-9C7E-281683EE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4205FD0-C487-4A4B-911E-67C894D6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ac39328fa44f6">
            <a:extLst>
              <a:ext uri="{96DAC541-7B7A-43D3-8B79-37D633B846F1}">
                <asvg:svgBlip xmlns:asvg="http://schemas.microsoft.com/office/drawing/2016/SVG/main" r:embed="Rd4b0d90eefec44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594360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F13D4EC-6E6B-4E97-9DD1-FA0FFB1E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4297680" cy="4572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6C9F37F-FD0B-43E4-B800-02FE6CBA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73152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8A5867B-C5E0-4497-838D-AFEF8311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92024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2563EB"/>
                </a:solidFill>
              </a:rPr>
              <a:t>Removal</a:t>
            </a:r>
          </a:p>
        </p:txBody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af9ac8a3c43fd">
            <a:extLst>
              <a:ext uri="{96DAC541-7B7A-43D3-8B79-37D633B846F1}">
                <asvg:svgBlip xmlns:asvg="http://schemas.microsoft.com/office/drawing/2016/SVG/main" r:embed="R5bafc634bd134e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2606040"/>
            <a:ext cx="3337560" cy="201168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E9FA03C-5FEE-4B6A-B40A-A1579A86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98348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E11D48"/>
                </a:solidFill>
              </a:rPr>
              <a:t>After Remove(), drop the pointer/reference immediately.</a:t>
            </a:r>
          </a:p>
        </p:txBody>
      </p:sp>
    </p:spTree>
    <p:extLst>
      <p:ext uri="{BB962C8B-B14F-4D97-AF65-F5344CB8AC3E}">
        <p14:creationId xmlns:p14="http://schemas.microsoft.com/office/powerpoint/2010/main" val="14635881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2B8A2A-5968-404D-8791-5EBDE72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D0C5E0-FBFC-41EE-B3D9-A2A3D598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340DE-689A-4C77-A7DA-A6ECBD48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Multiple strobes from generated API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35A308-7B6B-428A-A639-5C11ECC7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Current generated API exposes strobe types and lets the page strobe switch active type.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5AD743-44BD-4CC3-8335-C4F1D54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6F7901-EAA7-495D-84F2-DB76E9A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317F835-A96C-4D01-AFBC-393024CF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d4d557a894026">
            <a:extLst>
              <a:ext uri="{96DAC541-7B7A-43D3-8B79-37D633B846F1}">
                <asvg:svgBlip xmlns:asvg="http://schemas.microsoft.com/office/drawing/2016/SVG/main" r:embed="Readc7664ae1a4c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630936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EEDE679-B90E-457F-901E-A5E195E2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3977640" cy="4572000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077C649-8405-4CE4-A0C7-3EA55CCE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73152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BE73EBD-D12E-4B3A-B67C-1C3A04BE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920240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7C3AED"/>
                </a:solidFill>
              </a:rPr>
              <a:t>API concepts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9E03AFA-CFB8-4E33-B6B7-2716370D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514600"/>
            <a:ext cx="3063240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page.strobe is the active handle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page.defaultStrobe / page.strobe1 are selectable types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SelectedType() reports current selection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position and active state still use page.strobe</a:t>
            </a:r>
          </a:p>
        </p:txBody>
      </p:sp>
    </p:spTree>
    <p:extLst>
      <p:ext uri="{BB962C8B-B14F-4D97-AF65-F5344CB8AC3E}">
        <p14:creationId xmlns:p14="http://schemas.microsoft.com/office/powerpoint/2010/main" val="15642006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F6BDFB-8FDE-4119-B7F7-5DC4F611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2CF72D-8500-473C-AD57-86FC4A9A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59F121-6DA2-4D54-86C0-BBC9A625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Strobe feedback: requested vs resolved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B97555-6C78-44E8-9E2F-9065D2F9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The runtime resolves capture and magnetization. Read the result from feedback.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92804F-3B3D-4A31-B5B9-29DFC33D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147DAE-DD63-4088-BC51-B96CD31E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002B4E4-E31C-4463-B97C-6420786D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bce1989fd48b7">
            <a:extLst>
              <a:ext uri="{96DAC541-7B7A-43D3-8B79-37D633B846F1}">
                <asvg:svgBlip xmlns:asvg="http://schemas.microsoft.com/office/drawing/2016/SVG/main" r:embed="Rde85727b2ddd44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621792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FD96AE1-6EF0-47C4-9D3F-47EDADE8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388620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9EA2175-B0FB-4B70-A80D-AA7D1FED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1929384"/>
            <a:ext cx="1874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7C3AED"/>
                </a:solidFill>
              </a:rPr>
              <a:t>State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21C21AF-924D-43E0-B7F5-352A0BDD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1929384"/>
            <a:ext cx="17190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7C3AED"/>
                </a:solidFill>
              </a:rPr>
              <a:t>Owner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EFCC147-EE1B-422A-B761-1D129213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578608"/>
            <a:ext cx="388620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0B87C58-21A3-4CCE-B387-9135B925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679192"/>
            <a:ext cx="1874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requested position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737B9FC-6A58-4608-97A2-B2E9EEED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2679192"/>
            <a:ext cx="17190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client command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050D6B5-0321-4238-9A92-C96B901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328416"/>
            <a:ext cx="388620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81A0A8B-F6E4-4485-A8F8-3F3DB2A7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3429000"/>
            <a:ext cx="1874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resolved position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9A9623B-C787-43FE-B7BD-6612F580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3429000"/>
            <a:ext cx="17190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runtime feedback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32ACD54-F934-4604-B4E8-9A562C6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078224"/>
            <a:ext cx="388620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0D26AC-6335-48C5-983C-F75E38E0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78808"/>
            <a:ext cx="1874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captured track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FD72E79-7834-4657-A123-40B888F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178808"/>
            <a:ext cx="17190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runtime feedback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724E332-D39F-4EA1-B057-FA0809F6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828032"/>
            <a:ext cx="3886200" cy="71323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4CC805B-0904-40D3-8393-EDFFAE0A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928616"/>
            <a:ext cx="1874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active page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C717AA3-9912-41DF-A8D2-71981A94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928616"/>
            <a:ext cx="17190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runtime feedback</a:t>
            </a:r>
          </a:p>
        </p:txBody>
      </p:sp>
    </p:spTree>
    <p:extLst>
      <p:ext uri="{BB962C8B-B14F-4D97-AF65-F5344CB8AC3E}">
        <p14:creationId xmlns:p14="http://schemas.microsoft.com/office/powerpoint/2010/main" val="9138530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BFDA10-E119-4637-AAD2-41B894B3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D54A1C7-6BB9-4B94-965A-C71FF83D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D65B51-FFE8-4467-9251-747FDC9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Tutorial 4 — project user space to page space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EA0EE7-B2D3-4E49-ADE9-BCB757DF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Keep your domain units in the client; send page-space coordinates to the runtime.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8E5FDC-6374-41C0-917B-3C2DDF0B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576B108-BDAC-475F-B008-64560916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9FC6B0E-79A9-411F-AFAD-E534C5EB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D1D3773-374A-49F8-85B8-26C4F065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110" y="21031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891B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DFB7F3B-E095-4206-B278-07655825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013" y="21031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891B2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CFCC78D-FA2A-4479-80C7-703C86F6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15" y="21031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891B2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5279119-E865-410D-955B-25B6C800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818" y="21031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891B2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76834F-1D18-4A9C-B808-28E138A4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AA0277-278F-481F-9733-19F12344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2EC692-B5C3-4F27-8124-DF8D8FD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0891B2"/>
                </a:solidFill>
              </a:rPr>
              <a:t>domain data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D77C7CF-0F3D-41D6-A277-B911D420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NM + radians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3EDE356-553A-4622-A262-983743CF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EC9DA3C-E233-44CA-A727-B99E41FB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699A287-AF64-4B55-8CE3-AB27D448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0891B2"/>
                </a:solidFill>
              </a:rPr>
              <a:t>UserSpaceFrame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3B58D10-DB94-4668-9EC6-90533A8A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origin, anchor, axes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52B3CD9-A9DF-42F3-B392-0E133AC6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541263E-37D1-4341-B7F8-C06159F3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46F7416-853A-4516-B51C-7D27EA5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0891B2"/>
                </a:solidFill>
              </a:rPr>
              <a:t>Projector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5216491-0613-40AC-9761-9D46CA0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convert pose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6F0B32-0D7F-462F-96D2-3EA1CEA8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EBA1DCC-2D57-412F-8C85-5067800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460C6D0-EF36-428E-AB48-37FA93C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0891B2"/>
                </a:solidFill>
              </a:rPr>
              <a:t>generated API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97DC15E-F9A9-442B-AA26-A1B7FB6F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SetPosition, rotation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9AA78AE-10B4-495E-BFF7-065E389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334CB20-3F0B-4C2C-AD46-A29BC6AA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0BB6914-7BAB-40CC-A154-F97D1D2C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0891B2"/>
                </a:solidFill>
              </a:rPr>
              <a:t>runtime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197A78D-67F8-4E00-9EE9-6B11C9B7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[-1,1] page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1BE57EE-F165-4806-9263-919393CF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1051560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C090657-9B3C-46B7-A1E0-F4D84FFC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5E9FF4F-16E8-4FF8-BC63-ADB715EE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9080"/>
            <a:ext cx="9784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F172A"/>
                </a:solidFill>
              </a:rPr>
              <a:t>The runtime is unchanged: it still receives page coordinates in [-1, 1] and rotations in degrees.</a:t>
            </a:r>
          </a:p>
        </p:txBody>
      </p:sp>
    </p:spTree>
    <p:extLst>
      <p:ext uri="{BB962C8B-B14F-4D97-AF65-F5344CB8AC3E}">
        <p14:creationId xmlns:p14="http://schemas.microsoft.com/office/powerpoint/2010/main" val="12538207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1724F4-6D8F-4E3D-A5DD-9041C22A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30C0522-71CB-4E87-B2A5-81DECA4B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0F549A2-BA65-470C-A63A-892D0E31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UserSpaceFrame: what each field means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E7A47F-B137-456E-A20E-96F38C08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This is a client-side conversion frame.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B8BB90-B1AE-47B0-A6AF-256F0EDC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72E6B44-C3FE-4DFB-9D45-5113AF09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72C187-9B81-46FC-B2D5-ABBE87B4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F13F8C-913E-418E-964F-DAE55EB2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26E0215-A7AE-4C84-BB9D-A65EDB61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655064"/>
            <a:ext cx="35981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891B2"/>
                </a:solidFill>
              </a:rPr>
              <a:t>Field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FC948BB-3B93-4D94-B733-955AF956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1655064"/>
            <a:ext cx="68077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891B2"/>
                </a:solidFill>
              </a:rPr>
              <a:t>Meaning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DD69966-D8DD-4AB0-9C3E-F6E5B499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836D682-5BB4-4FC9-8E76-F40E3B3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13432"/>
            <a:ext cx="35981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userOrigin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AB219E6-9BAE-41E6-ADEB-FDE8EFD8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2313432"/>
            <a:ext cx="68077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domain origin mapped to pageAnchor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44D8EA1-FF5B-4049-B87E-2290FC1F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71216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4E0F764-2BC1-4FAB-AFF8-8AAA07C2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71800"/>
            <a:ext cx="35981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pageAnchor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726818-913E-4587-9C80-3EFDF7E0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2971800"/>
            <a:ext cx="68077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where the origin appears in page coordinates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A7AE0D9-9DCA-4EC8-A3CC-315A89CD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9584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5B6B61E-F01D-4E54-8E39-F21F8D2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630168"/>
            <a:ext cx="35981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originRotationRadians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642001-ABD2-4640-995D-F2C2CA82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3630168"/>
            <a:ext cx="68077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rotation removed from positions and rotations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3D24E32-366E-4877-BF53-28E01412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87952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C7B71FE-7EBE-4AEB-859C-324B042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88536"/>
            <a:ext cx="35981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pageUnitsPerUserUnit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4EDF29F-1CAA-4DAC-926F-694CDAA2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4288536"/>
            <a:ext cx="68077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scale from NM/meters/etc. to page units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4D812B7-1CB8-4538-8524-95CFE904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7BCF88D-99B3-4E2E-945E-15773F4B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946904"/>
            <a:ext cx="35981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userXAxisInPage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A93BD22-F055-4868-BA5D-2ED18D1B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4946904"/>
            <a:ext cx="68077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 direction of domain +X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0022529-54AE-41F3-A462-F5A86B6E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04688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C691E9A-3B3E-420C-9A7B-8F5877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605272"/>
            <a:ext cx="35981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userYAxisInPage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33F8C24-EED4-4506-B130-0CD5CDB9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5605272"/>
            <a:ext cx="68077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 direction of domain +Y</a:t>
            </a:r>
          </a:p>
        </p:txBody>
      </p:sp>
    </p:spTree>
    <p:extLst>
      <p:ext uri="{BB962C8B-B14F-4D97-AF65-F5344CB8AC3E}">
        <p14:creationId xmlns:p14="http://schemas.microsoft.com/office/powerpoint/2010/main" val="60007903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1A0F6E-0F0D-46AA-B7F2-086D822C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174453-24B8-4E40-817F-08DD5BCE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4E3360F-1E8C-4851-AD9F-FF388A21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Concrete aircraft-centric example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7898F93-CCCF-4A4C-BB1B-E621714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Ownship is anchored at the bottom of the page; tracks are stored in NM and radians.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E630FD-4DD1-4271-9B37-8F880D3A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C648E8C-152E-4E60-98C3-C404967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EC2BD06-008B-4AC9-B14F-217F924A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B099823-9798-4BC2-80FB-C0B79692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0292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ACEE22-486D-40AE-9A8A-30149DA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73152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467ACB9-3E2F-4E4D-9E02-EF1E57E4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20240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891B2"/>
                </a:solidFill>
              </a:rPr>
              <a:t>Chosen display scale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9BF6603-44F1-411A-83BE-5D07BF80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40233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0F172A"/>
                </a:solidFill>
              </a:rPr>
              <a:t>Ownship anchor: {0.0, -0.7}</a:t>
            </a:r>
          </a:p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0F172A"/>
                </a:solidFill>
              </a:rPr>
              <a:t>Forward limit: y = +0.9</a:t>
            </a:r>
          </a:p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0F172A"/>
                </a:solidFill>
              </a:rPr>
              <a:t>Visible forward span: 1.6 page units</a:t>
            </a:r>
          </a:p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0F172A"/>
                </a:solidFill>
              </a:rPr>
              <a:t>Max range: 40 NM</a:t>
            </a:r>
          </a:p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0F172A"/>
                </a:solidFill>
              </a:rPr>
              <a:t>Scale: 1.6 / 40 = 0.04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1894B23-AA82-4972-801B-E17E0A8F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6002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25400">
            <a:solidFill>
              <a:srgbClr val="0891B2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8095D74-D1A9-4007-A62B-E38FFFE2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4160520"/>
            <a:ext cx="310896" cy="32918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5043021-9BCC-412F-92C2-D3F3F314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160520"/>
            <a:ext cx="9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59669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842E6DB-44A4-4B85-8044-2678AB18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160520"/>
            <a:ext cx="141732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D9770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BC15E8F-3136-47EF-AC35-7A8C5444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143000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59669"/>
                </a:solidFill>
              </a:rPr>
              <a:t>domain +X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59669"/>
                </a:solidFill>
              </a:rPr>
              <a:t>forward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CBD2C22-3A44-4592-B544-B1F05A6D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406908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D97706"/>
                </a:solidFill>
              </a:rPr>
              <a:t>domain +Y right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EF15084-8BD2-4574-AC32-0AC3347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6636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563EB"/>
                </a:solidFill>
              </a:rPr>
              <a:t>page anchor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563EB"/>
                </a:solidFill>
              </a:rPr>
              <a:t>{0.0, -0.7}</a:t>
            </a:r>
          </a:p>
        </p:txBody>
      </p:sp>
    </p:spTree>
    <p:extLst>
      <p:ext uri="{BB962C8B-B14F-4D97-AF65-F5344CB8AC3E}">
        <p14:creationId xmlns:p14="http://schemas.microsoft.com/office/powerpoint/2010/main" val="200401029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CF8088-7127-43F1-B77E-8451A0C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070FE44-E1DA-4075-821A-D78C656D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8187B7-FEC1-48CB-99B2-F9131CC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Build the projector frame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DEF091-5EDF-4524-83F6-21E4BC80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This code comes from the aircraft-centric training pattern.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C8BDB38-A950-42E3-8C6F-049F3B00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CCB9F84-70BC-4BE1-9E48-ADC301D2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1BD927-C39D-49EA-ACA2-9FEAFB03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9e87be5e845e3">
            <a:extLst>
              <a:ext uri="{96DAC541-7B7A-43D3-8B79-37D633B846F1}">
                <asvg:svgBlip xmlns:asvg="http://schemas.microsoft.com/office/drawing/2016/SVG/main" r:embed="Rc32983a3a0c740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554480"/>
            <a:ext cx="6492240" cy="470916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BCA5233-4467-4E70-9A17-D80E10A2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54480"/>
            <a:ext cx="3611880" cy="470916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D50C975-4DD8-4A4B-9FC4-1B192134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54480"/>
            <a:ext cx="73152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8CC1152-B258-4503-A04C-D6FFFB2F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87452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891B2"/>
                </a:solidFill>
              </a:rPr>
              <a:t>Tuning knobs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DB6BB29-94C9-4D56-B4C1-9FF17877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514600"/>
            <a:ext cx="283464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0F172A"/>
                </a:solidFill>
              </a:rPr>
              <a:t>• pageAnchor moves the domain origin on the MFD page</a:t>
            </a:r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0F172A"/>
                </a:solidFill>
              </a:rPr>
              <a:t>• pageUnitsPerUserUnit changes range scale</a:t>
            </a:r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0F172A"/>
                </a:solidFill>
              </a:rPr>
              <a:t>• basis vectors choose axis mapping</a:t>
            </a:r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0F172A"/>
                </a:solidFill>
              </a:rPr>
              <a:t>• originRotationRadians makes an aircraft-centric display</a:t>
            </a:r>
          </a:p>
        </p:txBody>
      </p:sp>
    </p:spTree>
    <p:extLst>
      <p:ext uri="{BB962C8B-B14F-4D97-AF65-F5344CB8AC3E}">
        <p14:creationId xmlns:p14="http://schemas.microsoft.com/office/powerpoint/2010/main" val="8901575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4065F8-8438-4416-8B5B-84109B45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071E71F-245F-40F9-84FC-EC5707C1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46E6A53-91D0-4B6F-91AE-D9F6831D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Project one track before calling setters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ED1A79-9395-4455-B1F9-CF28AB7D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Convert at the boundary between business data and generated API.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9C8605-8ABF-41CF-8B82-9C81BD8F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30CFA35-DB48-43B8-98DC-7C9A73C5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DB7F59-D33D-4BF8-8E0A-C115C8D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62ea53be7415f">
            <a:extLst>
              <a:ext uri="{96DAC541-7B7A-43D3-8B79-37D633B846F1}">
                <asvg:svgBlip xmlns:asvg="http://schemas.microsoft.com/office/drawing/2016/SVG/main" r:embed="Re6cc93b844fe44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7DA0CED-CF4A-4662-970A-62A94DC4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520440" cy="4572000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C88C7D9-70E7-4D39-9787-0D55025E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73152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D36555F-3536-493E-963F-F220FFB6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0240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891B2"/>
                </a:solidFill>
              </a:rPr>
              <a:t>Rule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EA27ABC-61A8-47CF-BB6D-5DC1D8D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06040"/>
            <a:ext cx="2743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F172A"/>
                </a:solidFill>
              </a:rPr>
              <a:t>The generated API does not know nautical miles. It receives page coordinates only.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A026DB5-9CEC-4D9B-8F9C-106B1198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343400"/>
            <a:ext cx="274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0F172A"/>
                </a:solidFill>
              </a:rPr>
              <a:t>• conversion is testable</a:t>
            </a:r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0F172A"/>
                </a:solidFill>
              </a:rPr>
              <a:t>• domain code remains clean</a:t>
            </a:r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0F172A"/>
                </a:solidFill>
              </a:rPr>
              <a:t>• runtime remains generic</a:t>
            </a:r>
          </a:p>
        </p:txBody>
      </p:sp>
    </p:spTree>
    <p:extLst>
      <p:ext uri="{BB962C8B-B14F-4D97-AF65-F5344CB8AC3E}">
        <p14:creationId xmlns:p14="http://schemas.microsoft.com/office/powerpoint/2010/main" val="26356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FF8BF-9854-4293-BBE1-09769410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7D1AA15-F097-4F4E-A3C7-220ECC26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DB7B72-0CB7-4646-854D-02A8937C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When ownship moves, update the frame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491F092-B655-4073-B277-85BEB78B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For aircraft-centric views, the projection frame is live state.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DB514B-1A53-4A86-9871-347B82EC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0A372B3-8869-4920-B1CA-60117D73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930882-CCEE-4B2C-B302-2D482EFD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c7897dfd64e2e">
            <a:extLst>
              <a:ext uri="{96DAC541-7B7A-43D3-8B79-37D633B846F1}">
                <asvg:svgBlip xmlns:asvg="http://schemas.microsoft.com/office/drawing/2016/SVG/main" r:embed="Rfb533222cc2a43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691640"/>
            <a:ext cx="5852160" cy="443484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E03D0CE-139D-4046-B87C-5539BBEC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91640"/>
            <a:ext cx="4023360" cy="443484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53ED2CD-1E7F-4F01-BED6-6B67EA30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91640"/>
            <a:ext cx="73152" cy="443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A2DF9B9-801C-4673-8C54-7255BBE2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1168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891B2"/>
                </a:solidFill>
              </a:rPr>
              <a:t>Common mistake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B228ED6-5151-42D0-AA85-E24DB01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31546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F172A"/>
                </a:solidFill>
              </a:rPr>
              <a:t>Updating track positions without updating the moving origin gives a “sliding world” effect.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B007A17-2A52-4048-A71D-D59B4F1D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206240"/>
            <a:ext cx="3063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20">
                <a:solidFill>
                  <a:srgbClr val="0F172A"/>
                </a:solidFill>
              </a:rPr>
              <a:t>• origin = ownship position</a:t>
            </a:r>
          </a:p>
          <a:p xmlns:a="http://schemas.openxmlformats.org/drawingml/2006/main">
            <a:pPr marL="0" indent="0">
              <a:buNone/>
            </a:pPr>
            <a:r>
              <a:rPr sz="1520">
                <a:solidFill>
                  <a:srgbClr val="0F172A"/>
                </a:solidFill>
              </a:rPr>
              <a:t>• rotation = ownship heading</a:t>
            </a:r>
          </a:p>
          <a:p xmlns:a="http://schemas.openxmlformats.org/drawingml/2006/main">
            <a:pPr marL="0" indent="0">
              <a:buNone/>
            </a:pPr>
            <a:r>
              <a:rPr sz="1520">
                <a:solidFill>
                  <a:srgbClr val="0F172A"/>
                </a:solidFill>
              </a:rPr>
              <a:t>• projector rebuild or SetFrame each cycle</a:t>
            </a:r>
          </a:p>
        </p:txBody>
      </p:sp>
    </p:spTree>
    <p:extLst>
      <p:ext uri="{BB962C8B-B14F-4D97-AF65-F5344CB8AC3E}">
        <p14:creationId xmlns:p14="http://schemas.microsoft.com/office/powerpoint/2010/main" val="3284094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E5BCE7-76B0-4FF7-B64F-232D0F6D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1D693E-B272-466E-893C-71B7A4F8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DA7B9C-E245-4B6F-94F7-F18B2288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Tutorial 5 — framebuffer plugin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23AD4F-CDE3-4784-BE96-5474BDF1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A plugin consumes final rendered frames in the format it requested. It is not a command plugin.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E248A3-D975-455C-AA2F-8E978C3E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DF50C9E-2AC3-4722-9A4E-342D36B5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C2962A-56E8-4449-A501-A5D39B7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D0EB85F-E049-43EA-B404-2B7F601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110" y="21031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11D48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4A159F4-4872-4F62-BBCC-0D750E94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013" y="21031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11D4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3A9D737-39EF-4377-8BBA-7B9C37BB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15" y="21031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11D48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F87ADEC-1546-4113-A0D5-F5044BC8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818" y="21031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11D4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DA87191-48BE-412C-BA23-43C3957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2EF7AC1-0D51-4A9A-A240-B38BCEE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F02950-FC18-49B0-8299-3439E14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E11D48"/>
                </a:solidFill>
              </a:rPr>
              <a:t>mfd_window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F274E2C-34E8-4F07-8F31-D182F86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renders active page viewport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5894FCB-2BC1-4904-9AE8-C505F975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3FEE9F8-24B8-4529-9248-3445909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90B1944-361A-4B01-9A09-26886ECF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E11D48"/>
                </a:solidFill>
              </a:rPr>
              <a:t>readback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712C9C0-2695-419A-A5C9-142CFA26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requested pixel format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4E882B5-07BA-439C-A18A-BA9B848A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D20EFF3-EBE7-4431-A440-BB3B7643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08D5497-3EE1-449F-9292-7AEF7317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E11D48"/>
                </a:solidFill>
              </a:rPr>
              <a:t>plugin DLL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DEBCA5D-9263-49FB-80A4-636D4F1A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submit_frame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8C4A85D-92E9-4F9D-807B-D276A766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AEFAB1-2D18-40E4-B69D-423E3A94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CE8753E-8187-4A65-9105-722D366D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E11D48"/>
                </a:solidFill>
              </a:rPr>
              <a:t>worker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9ED9B02-D1AF-4058-963E-730D9D2D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encode/IPC/write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F96DC63-8870-49CA-88E0-3A4FE60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69164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156C5E2-17D4-4333-B94A-75508FB0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69164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3D60A2D-9C52-4286-A25C-6200BDAA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183794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E11D48"/>
                </a:solidFill>
              </a:rPr>
              <a:t>consumer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8662C00-0E1E-43D7-B1A2-82FB106B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212140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video/test/host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E740479-B5A1-48B9-B2AB-C00976B2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521208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5326405-26F0-48F4-8E07-87F2C8B6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73152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FBC5565-B078-4899-913B-CC97803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880360"/>
            <a:ext cx="521208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8EB18095-D6AB-4A34-A73D-7F214248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880360"/>
            <a:ext cx="73152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BA6F9B8-5530-4359-B350-A077A977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54680"/>
            <a:ext cx="4617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11D48"/>
                </a:solidFill>
              </a:rPr>
              <a:t>Correct use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C5F536B-C871-494E-AA13-738B5F90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526280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record or forward pixels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share latest frame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image-based tests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remote display / IPC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4DE14FA-8BF6-438B-98CA-C0D0A17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54680"/>
            <a:ext cx="4617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11D48"/>
                </a:solidFill>
              </a:rPr>
              <a:t>Wrong use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9E1B71E-0942-481D-8E94-37FC0661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03320"/>
            <a:ext cx="4526280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send runtime commands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mutate scene state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block submit_frame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keep raw pointers</a:t>
            </a:r>
          </a:p>
        </p:txBody>
      </p:sp>
    </p:spTree>
    <p:extLst>
      <p:ext uri="{BB962C8B-B14F-4D97-AF65-F5344CB8AC3E}">
        <p14:creationId xmlns:p14="http://schemas.microsoft.com/office/powerpoint/2010/main" val="19215320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F0237D-C880-4414-97CC-AF6CAA8B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AB1220-8BE7-4B44-BD93-F3E53FB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0E4476-4ABE-46D0-A222-AC0B1136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Plugin lifecycle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0408182-4EC0-4E55-AE26-D1674834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The ABI is explicit: initialize, receive frames, close, destroy.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84DA63-FEFD-423C-AF76-87BB56A7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4AAA0B2-7C04-477A-AD0E-AA1CCF7D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019646-6108-4159-B504-C106F50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A91ADBF-6B6E-40C8-B013-6BF9DF95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6D143C-DDDC-4CA9-A3A9-E938128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A26ECE-EB4E-4926-AE68-084500BE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11D48"/>
                </a:solidFill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53B013D-A450-4BFA-9A0A-7AA4B7A9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Load DLL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7B0D9F0-6444-4810-A14B-759CF8FC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2FA0067-54E7-4EDF-A3FE-C3E5C810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56EE486-BA60-45A5-A2D3-0B90BA6C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11D48"/>
                </a:solidFill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7C7FE10-B7F3-4454-B7A5-D9BFD81D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Get API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24F1695-678D-4FA5-ABDA-89BFFF31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59AF093-BA26-421E-89CC-1A938711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2D056F-D318-444A-9C77-E68714A0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11D48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58D7384-6850-4B7E-B217-1D8F8CE0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init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EA92215-20B6-414B-93BD-BE1D9402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3AC0365-68B3-4BEE-8175-2E55C3AC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62FA555-117B-4AA1-9A73-71FC920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11D48"/>
                </a:solidFill>
              </a:rPr>
              <a:t>4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FBFF29-DC42-4A60-AD2E-3831572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submit_frame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1C9990D-DC9F-4718-B93C-8483FB25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28CB0E9-C224-4F89-82A8-997CF89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E7CB9ED-9C38-4901-9ED7-AEB56482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11D48"/>
                </a:solidFill>
              </a:rPr>
              <a:t>5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3F061E7-9C4C-42B8-B253-72A59E0F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close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2327C31-DBD1-4165-9224-ACC26A2D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600200"/>
            <a:ext cx="1600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B0F5840-CE71-432D-98E7-5817B577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9E7F424-C597-4637-91D6-95809EFB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11D48"/>
                </a:solidFill>
              </a:rPr>
              <a:t>6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19B95CD-D007-4A4A-B7C5-17BB89E1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592" y="1755648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destroy</a:t>
            </a:r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3856610854697">
            <a:extLst>
              <a:ext uri="{96DAC541-7B7A-43D3-8B79-37D633B846F1}">
                <asvg:svgBlip xmlns:asvg="http://schemas.microsoft.com/office/drawing/2016/SVG/main" r:embed="R8ed03ad5b70444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840" y="2971800"/>
            <a:ext cx="10149840" cy="1828800"/>
          </a:xfrm>
          <a:prstGeom xmlns:a="http://schemas.openxmlformats.org/drawingml/2006/main" prst="rect">
            <a:avLst/>
          </a:prstGeom>
        </p:spPr>
      </p:pic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DE97999-635D-4EFE-82C4-A3F5A5C3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0352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50" b="1">
                <a:solidFill>
                  <a:srgbClr val="0F172A"/>
                </a:solidFill>
              </a:rPr>
              <a:t>Use WindowLauncherPlugin.h as the source of truth; the sample plugin requests BGRA32.</a:t>
            </a:r>
          </a:p>
        </p:txBody>
      </p:sp>
    </p:spTree>
    <p:extLst>
      <p:ext uri="{BB962C8B-B14F-4D97-AF65-F5344CB8AC3E}">
        <p14:creationId xmlns:p14="http://schemas.microsoft.com/office/powerpoint/2010/main" val="1222299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0F1723-4C13-4C80-ACF6-7BE13310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68BD4BE-A1B0-4112-AE80-11007C77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52F525A-7892-4FAC-9779-02E05390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Framebuffer frame contract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951A076-0C8C-4416-9B5C-265AA75F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Validate quickly and copy if the data must outlive the callback.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27A9D2-A1AB-4FF9-B699-EBAFEE6F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C9DB696-63B2-4DF2-8451-D05C1115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F30A9E-8703-4456-A293-9092E9BD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638f5bcaf4f00">
            <a:extLst>
              <a:ext uri="{96DAC541-7B7A-43D3-8B79-37D633B846F1}">
                <asvg:svgBlip xmlns:asvg="http://schemas.microsoft.com/office/drawing/2016/SVG/main" r:embed="Ra3601b3a6d294e5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649224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EE535C-8145-44AC-BD6C-6E524FF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00200"/>
            <a:ext cx="3657600" cy="4572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093E478-8008-46CC-A5AE-AF0D82E1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00200"/>
            <a:ext cx="73152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F530FEA-74F0-498B-B342-65DB226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92024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E11D48"/>
                </a:solidFill>
              </a:rPr>
              <a:t>Do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43E34A3-B7AE-47CB-B8A9-F2781841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514600"/>
            <a:ext cx="28346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validate pixel_format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copy before return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use row_stride_bytes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return fast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process on worker</a:t>
            </a:r>
          </a:p>
        </p:txBody>
      </p:sp>
    </p:spTree>
    <p:extLst>
      <p:ext uri="{BB962C8B-B14F-4D97-AF65-F5344CB8AC3E}">
        <p14:creationId xmlns:p14="http://schemas.microsoft.com/office/powerpoint/2010/main" val="9740404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BE8A9F5-E08D-4472-A103-BA63134A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4A6791-542C-45A4-8346-1EE109E0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234A45-281E-4EAA-BFF4-E4BE8322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Build and load the plugin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43FA60-EAC1-4451-BC76-F80831E4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Compile as a shared library and load it through Start-MfdWindow.bat or mfd_window.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06592F-AFCF-46D5-9CB1-4C421E56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46F881F-E68B-4833-B513-CC9185B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3F636C0-0717-47FF-A032-A054B0BE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a95ac8e6e4d23">
            <a:extLst>
              <a:ext uri="{96DAC541-7B7A-43D3-8B79-37D633B846F1}">
                <asvg:svgBlip xmlns:asvg="http://schemas.microsoft.com/office/drawing/2016/SVG/main" r:embed="R34278007b34749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5623560" cy="2743200"/>
          </a:xfrm>
          <a:prstGeom xmlns:a="http://schemas.openxmlformats.org/drawingml/2006/main" prst="rect">
            <a:avLst/>
          </a:prstGeom>
        </p:spPr>
      </p:pic>
      <p:pic>
        <p:nvPicPr>
          <p:cNvPr id="1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d5bd0dc3a4f56">
            <a:extLst>
              <a:ext uri="{96DAC541-7B7A-43D3-8B79-37D633B846F1}">
                <asvg:svgBlip xmlns:asvg="http://schemas.microsoft.com/office/drawing/2016/SVG/main" r:embed="R55ba234389de4a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617720"/>
            <a:ext cx="5623560" cy="1143000"/>
          </a:xfrm>
          <a:prstGeom xmlns:a="http://schemas.openxmlformats.org/drawingml/2006/main" prst="rect">
            <a:avLst/>
          </a:prstGeom>
        </p:spPr>
      </p:pic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6535456-62F3-46B7-9130-64957A6A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600200"/>
            <a:ext cx="45720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DE10028-D8E0-47A9-84FF-036DF91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600200"/>
            <a:ext cx="73152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4EC7CB7-35EB-4551-8F44-F2EDE79C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920240"/>
            <a:ext cx="3931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E11D48"/>
                </a:solidFill>
              </a:rPr>
              <a:t>Validation order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025FF56-7155-4BB9-95DA-573E438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514600"/>
            <a:ext cx="361188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start with Start-MfdMinimal.bat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confirm plugin load and pixel format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log width, height, stride, format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copy latest frame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0F172A"/>
                </a:solidFill>
              </a:rPr>
              <a:t>• add the real sink/encoder</a:t>
            </a:r>
          </a:p>
        </p:txBody>
      </p:sp>
    </p:spTree>
    <p:extLst>
      <p:ext uri="{BB962C8B-B14F-4D97-AF65-F5344CB8AC3E}">
        <p14:creationId xmlns:p14="http://schemas.microsoft.com/office/powerpoint/2010/main" val="1288057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D48F15-0BD3-48CD-BD26-89AE6FA5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E1483B-2539-46E7-BD64-2E33A88A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E5F9CC3-644A-4010-8845-24BC7A89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Safe plugin sink: latest-frame slot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92AEC8-B2EE-47A2-B918-B3207C30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For live display forwarding, latest-only is often safer than unbounded queues.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6816CB-F5B1-403C-9444-CAACD892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BA93FFC-8D39-4A2F-BCC0-3DFC2D0E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711008-7C5F-4E0B-B321-6768E344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487a8e83443aa">
            <a:extLst>
              <a:ext uri="{96DAC541-7B7A-43D3-8B79-37D633B846F1}">
                <asvg:svgBlip xmlns:asvg="http://schemas.microsoft.com/office/drawing/2016/SVG/main" r:embed="R9e3fc81f89c04f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08760"/>
            <a:ext cx="6126480" cy="475488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9727DC3-BCED-405A-82F9-A34DDD2C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508760"/>
            <a:ext cx="4023360" cy="475488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ABC774A-5E3C-4FCF-AEF1-DD8A49B8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508760"/>
            <a:ext cx="73152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0275589-4609-46BF-80AE-411EDB2E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82880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E11D48"/>
                </a:solidFill>
              </a:rPr>
              <a:t>Why latest-only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A6FFE05-546C-40D1-8F99-B393A7C4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423160"/>
            <a:ext cx="310896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20">
                <a:solidFill>
                  <a:srgbClr val="0F172A"/>
                </a:solidFill>
              </a:rPr>
              <a:t>• bounded memory</a:t>
            </a:r>
          </a:p>
          <a:p xmlns:a="http://schemas.openxmlformats.org/drawingml/2006/main">
            <a:pPr marL="0" indent="0">
              <a:buNone/>
            </a:pPr>
            <a:r>
              <a:rPr sz="1720">
                <a:solidFill>
                  <a:srgbClr val="0F172A"/>
                </a:solidFill>
              </a:rPr>
              <a:t>• natural frame dropping</a:t>
            </a:r>
          </a:p>
          <a:p xmlns:a="http://schemas.openxmlformats.org/drawingml/2006/main">
            <a:pPr marL="0" indent="0">
              <a:buNone/>
            </a:pPr>
            <a:r>
              <a:rPr sz="1720">
                <a:solidFill>
                  <a:srgbClr val="0F172A"/>
                </a:solidFill>
              </a:rPr>
              <a:t>• good for preview/IPC</a:t>
            </a:r>
          </a:p>
          <a:p xmlns:a="http://schemas.openxmlformats.org/drawingml/2006/main">
            <a:pPr marL="0" indent="0">
              <a:buNone/>
            </a:pPr>
            <a:r>
              <a:rPr sz="1720">
                <a:solidFill>
                  <a:srgbClr val="0F172A"/>
                </a:solidFill>
              </a:rPr>
              <a:t>• bad for lossless recording</a:t>
            </a:r>
          </a:p>
          <a:p xmlns:a="http://schemas.openxmlformats.org/drawingml/2006/main">
            <a:pPr marL="0" indent="0">
              <a:buNone/>
            </a:pPr>
            <a:r>
              <a:rPr sz="1720">
                <a:solidFill>
                  <a:srgbClr val="0F172A"/>
                </a:solidFill>
              </a:rPr>
              <a:t>• simple shutdown</a:t>
            </a:r>
          </a:p>
        </p:txBody>
      </p:sp>
    </p:spTree>
    <p:extLst>
      <p:ext uri="{BB962C8B-B14F-4D97-AF65-F5344CB8AC3E}">
        <p14:creationId xmlns:p14="http://schemas.microsoft.com/office/powerpoint/2010/main" val="5987420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08552B-189B-4F9A-B061-36EFBAD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E572EA-24FE-4784-B5E2-8BB371F4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F3A4C5-1FDA-41EC-8A7D-E291007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End-to-end runbook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C69290-1402-41DC-9874-08154A98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Use this user path when training someone live.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696DE2-8031-45DB-BE28-D8CD7D54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F5082CB-B02F-4ACF-B8B4-042181A3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61CD59E-560E-42CE-9AED-7B4CDE47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35F1A54-4257-4ED7-B4CE-7B93014F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10698480" cy="585216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BECFF8F-9B0F-4E23-B594-8BAFDC93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609344"/>
            <a:ext cx="12444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34155"/>
                </a:solidFill>
              </a:rPr>
              <a:t>Step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5B3E283-F790-4328-BB59-1B9B1EFB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94" y="1609344"/>
            <a:ext cx="916137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34155"/>
                </a:solidFill>
              </a:rPr>
              <a:t>Action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E499826-F062-4BB3-BC85-559E0FB4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10698480" cy="585216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8D86072-F165-42F3-9648-27DB5EB2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31136"/>
            <a:ext cx="12444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15DA25B-569B-4C38-AFFE-55C44A60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94" y="2231136"/>
            <a:ext cx="916137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Build runtime, editor, mockup, sample plugin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F36D75F-FC6C-4491-83EA-92824B24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52344"/>
            <a:ext cx="10698480" cy="585216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E0070B6-5B37-44AB-A796-8CBE395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52928"/>
            <a:ext cx="12444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627681-D945-4C1F-A829-9B6D8435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94" y="2852928"/>
            <a:ext cx="916137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Run Start-MfdDemo.bat and validate with client_mockup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4476B09-3DBD-404D-B568-8D16294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74136"/>
            <a:ext cx="10698480" cy="585216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93AF340-1A4C-4D29-9E15-0A0D649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74720"/>
            <a:ext cx="12444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77EAC8C-01A0-452B-8542-F515D7C9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94" y="3474720"/>
            <a:ext cx="916137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Author titleDisplay, dynamic bindings and strobes in mfd_editor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997999E-A40A-4ACF-810B-0BF611CB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95928"/>
            <a:ext cx="10698480" cy="585216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C91D562-6319-49C1-87D5-99EB6AB8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96512"/>
            <a:ext cx="12444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8B0AD8F-12A8-441C-95E9-008823E6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94" y="4096512"/>
            <a:ext cx="916137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Regenerate typed API and rebuild client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4F80573-3730-4625-A36A-C185EED5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10698480" cy="585216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6A50F07-307B-4E5C-8F37-E6BBF1DE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718304"/>
            <a:ext cx="12444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6C47F0B-437F-4170-95F9-6F95EC56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94" y="4718304"/>
            <a:ext cx="916137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Publish reticles, dynamic tracks and strobe selection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A37D2F5-0B01-4B8E-A865-F51219ED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9512"/>
            <a:ext cx="10698480" cy="585216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D62DD5A-D282-4770-ADC0-0FD73B6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340096"/>
            <a:ext cx="12444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B84206A-D9FB-41DA-82C4-6849ED4D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94" y="5340096"/>
            <a:ext cx="916137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Use UserSpaceProjector for NM/radian data when needed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2976456-B4C0-476C-86A8-7E344D6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61304"/>
            <a:ext cx="10698480" cy="585216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7AACB44-21DA-4FAB-858A-2C469838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961888"/>
            <a:ext cx="12444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F933208-3ACD-4812-8DD6-BDB47DE6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94" y="5961888"/>
            <a:ext cx="916137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Run Start-MfdMinimal.bat and validate BGRA32/RGBA32 frames</a:t>
            </a:r>
          </a:p>
        </p:txBody>
      </p:sp>
    </p:spTree>
    <p:extLst>
      <p:ext uri="{BB962C8B-B14F-4D97-AF65-F5344CB8AC3E}">
        <p14:creationId xmlns:p14="http://schemas.microsoft.com/office/powerpoint/2010/main" val="194545169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B0A583B-C164-40AF-AB20-6187EE2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A6435B-454B-42B3-8D1D-262364A8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9B5F9E-5A26-4726-BD5E-C2A6A52E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Troubleshooting: generated API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644681A-23FB-455F-907A-1C6924F4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Triage by symptom first, then inspect authoring/generation/runtime.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EC2A17-7DEF-45E0-977E-458551F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EE445A4-4715-42A7-9A13-60F9177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A29E1F6-BDA1-4B1D-B2DA-A0779A4E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4D6FC99-C4E3-4773-A58F-070D09C3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BFE093-1C58-45C7-9ECD-A4390AC1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655064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34155"/>
                </a:solidFill>
              </a:rPr>
              <a:t>Symptom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56F95A-8F7D-4013-A519-36239A31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1655064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34155"/>
                </a:solidFill>
              </a:rPr>
              <a:t>Likely cause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7026E7-35C1-4943-AC4B-33AA8DD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A3A2290-084D-44A5-952A-EA15193D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13432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accessor missing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FBDF6CC-9FF2-49A8-92EC-64641780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2313432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primitive not exposed or API not regenerated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727829E-9A46-46F6-99C6-736EB5FA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71216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D7DF8BA-63B1-4EED-80BB-B4E8DBCF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71800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batch rejected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1F2B400-147B-4170-BE21-A64BAEC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2971800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stale .generated.map or mappingHash mismatch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58A4C45-A742-471A-88A3-808260A7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9584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9B3C091-29D0-47A8-A67F-BD605412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630168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dynamic symbol absent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F0BFB2E-8EE5-4655-AAC2-CB8E96A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3630168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missing dynamicReticleBindings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180E51E-9FA2-4D26-9DF4-82EF264A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87952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4F75108-CA19-4788-9754-3C80F1C7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88536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strobe selection ignored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4798D3E-ED9D-4314-9830-D4D1865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4288536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invalid strobe type or stale generated API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AC8EACD-41F4-4485-AE45-35279913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87E4D7D-E062-4600-88CC-A91E460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946904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IsActive false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895BC15-D37D-4837-8463-899597BF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4946904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feedback not configured or not polled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5AC624C-9473-4E13-A28C-8EC30500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04688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CC76755-661C-47D4-9AE9-30CE32D7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605272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wrong coordinates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8A1116A-DA0D-49E6-851D-76E4AFB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5605272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domain data not projected or out of page range</a:t>
            </a:r>
          </a:p>
        </p:txBody>
      </p:sp>
    </p:spTree>
    <p:extLst>
      <p:ext uri="{BB962C8B-B14F-4D97-AF65-F5344CB8AC3E}">
        <p14:creationId xmlns:p14="http://schemas.microsoft.com/office/powerpoint/2010/main" val="23803948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EC82B80-A755-44BB-9808-C2FF315E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147C05E-1985-48F5-93B6-5ED8EF18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4EC6D26-CC82-4971-9464-5432497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Troubleshooting: framebuffer plugin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7973D3-659C-4EFC-9DA9-77D1EDF1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Separate load failure, ABI failure, frame failure and consumer failure.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76672F9-C127-4AEA-BF59-9D6A59D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2DB23E-FF2E-4F20-95B5-45C9B30F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ED68E40-02C5-46E5-BDA8-D00BB1A3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DBBCAF6-A660-4F7D-8E0C-B48783F7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1CD06B0-E0DC-441C-BB23-81542A29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655064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34155"/>
                </a:solidFill>
              </a:rPr>
              <a:t>Symptom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4A06A4E-1980-479A-A7EB-7CC8E7A9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1655064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34155"/>
                </a:solidFill>
              </a:rPr>
              <a:t>Check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3AA3D4F-DDC4-4239-802E-D60D1AB8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7FBDC2A-4DF8-4F47-A748-1273ED7B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13432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plugin not loaded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A6E877A-181A-4BE8-ABD5-3D68E4E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2313432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path, dependencies, architecture Win32/x64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F80AE0-E5A0-46EE-A5A5-2A7F5439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71216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BC76560-BAF7-424E-B4EB-E316028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71800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ABI rejected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2EE7BFF-BAC1-4A1B-962C-85A363C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2971800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entry point/signature/version differs from header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2F14E55-DC70-44AF-BA07-A1741C40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9584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4186CF8-EA2D-4EF6-B406-D472D576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630168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no frames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1D271-7BFE-47E6-BFFE-60C87F3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3630168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plugin not enabled or runtime not rendering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C1D7A3A-88AB-4B5B-A5BF-CA12A183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87952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F6C5FE-B18C-4879-B2F1-6FA1D67C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88536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window freezes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BB1CA82-EE79-4A7A-81D2-4A7E2CEE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4288536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blocking work inside submit_frame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8D30EE-5E88-4F63-A28F-4E72C83C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1D3B405-1D87-4A26-9801-23D7F14E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946904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corrupt image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D5FD4E2-FE93-405B-9124-2295FDA4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4946904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stride or pixel-format interpretation bug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252D475-46D4-4E56-B5F9-5687CA69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04688"/>
            <a:ext cx="10698480" cy="621792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5994B8C-5C9E-4B00-9810-7B5D319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605272"/>
            <a:ext cx="327721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exit crash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4B9C3A0-8858-445E-980B-25927934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06" y="5605272"/>
            <a:ext cx="712866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worker still running while DLL unloads</a:t>
            </a:r>
          </a:p>
        </p:txBody>
      </p:sp>
    </p:spTree>
    <p:extLst>
      <p:ext uri="{BB962C8B-B14F-4D97-AF65-F5344CB8AC3E}">
        <p14:creationId xmlns:p14="http://schemas.microsoft.com/office/powerpoint/2010/main" val="57820204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F61594-287C-4729-BA94-942CE8F4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627BB6-7AA5-4E4A-9DD7-8378E34A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09862C-E97F-47BE-93DE-4074E78B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Hands-on lab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3A1331-A79A-4703-B35C-82C09BAC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A trainee is ready when they can complete and explain this exercise.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0B2D4A-8E0B-4546-BD13-073CB0FC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0135636-A53C-4023-BE58-F23EB527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F94E27-3C05-4C10-90DA-3639B4F9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B63068-5878-433D-8365-4477BAE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9659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90460AA-9E2D-4DCC-85DE-A255B02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5336E0-F10B-49EC-A4FD-E0A9FF1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37B20D-FB42-4FCC-93C4-C733DAEA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175564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Author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B7C393-092D-4E8A-AB76-7E4851A6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600200"/>
            <a:ext cx="19659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0F2AB63-ED11-45BF-B828-67156651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C2AAC59-C046-4ABF-9C35-25DFE4B4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334155"/>
                </a:solidFill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158BECD-1FD7-4E00-8529-E9C99710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75564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Generate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754C652-D586-4695-BCCE-A06C6D7D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600200"/>
            <a:ext cx="19659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E817C12-0A25-461E-A56C-114A9FB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DA9B43-7AC1-4F50-B113-ED6BD4F6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334155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A1A2BA-CE53-4C5B-BEC0-59B05F58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175564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Drive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E4684B5-CC9F-453F-AF02-C0DEABF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659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7C47A8F-1D37-48C7-A322-AAD20FA5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4BFC100-F593-42B0-B434-7F865A81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334155"/>
                </a:solidFill>
              </a:rPr>
              <a:t>4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9E0B124-D251-4220-A08B-1798EDE2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175564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Project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3B6FA44-DE71-467B-AE0F-1EB1F4D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600200"/>
            <a:ext cx="19659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B460CFE-5936-42C9-9A30-807BE629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60020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0201FAF-FC43-460D-BC47-6787FAE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1746504"/>
            <a:ext cx="3840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334155"/>
                </a:solidFill>
              </a:rPr>
              <a:t>5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4FFB4AA-91EA-4FF8-98D7-DA66031C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175564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80" b="1">
                <a:solidFill>
                  <a:srgbClr val="0F172A"/>
                </a:solidFill>
              </a:rPr>
              <a:t>Capture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11A573B-F38F-4EA6-8BA1-021C630A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521208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187D880-A38F-439A-A914-B49650E6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73152" cy="36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139076D-A6CC-46C8-A69C-0F7D4D29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60320"/>
            <a:ext cx="521208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C2B14B8-9E76-4BDE-8C50-1165C92F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60320"/>
            <a:ext cx="73152" cy="36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71247D2-6A98-45BF-B301-B0ECECD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34640"/>
            <a:ext cx="4617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334155"/>
                </a:solidFill>
              </a:rPr>
              <a:t>Build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3B18116-5FB0-4C70-8B99-F87AF41E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83280"/>
            <a:ext cx="45262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one radar page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one framed title chrome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two strobe variants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one dynamic track binding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one exposed label primitive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4E42995-282E-433A-9C1B-54FF9A17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34640"/>
            <a:ext cx="4617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334155"/>
                </a:solidFill>
              </a:rPr>
              <a:t>Demonstrate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089E8E6-893E-467D-B0C9-1F36662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83280"/>
            <a:ext cx="45262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create 3 tracks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switch default/designator strobe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project tracks in NM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poll capture feedback</a:t>
            </a:r>
          </a:p>
          <a:p xmlns:a="http://schemas.openxmlformats.org/drawingml/2006/main">
            <a:pPr marL="0" indent="0">
              <a:buNone/>
            </a:pPr>
            <a:r>
              <a:rPr sz="1620">
                <a:solidFill>
                  <a:srgbClr val="0F172A"/>
                </a:solidFill>
              </a:rPr>
              <a:t>• load stdout plugin with Start-MfdMinimal.bat</a:t>
            </a:r>
          </a:p>
        </p:txBody>
      </p:sp>
    </p:spTree>
    <p:extLst>
      <p:ext uri="{BB962C8B-B14F-4D97-AF65-F5344CB8AC3E}">
        <p14:creationId xmlns:p14="http://schemas.microsoft.com/office/powerpoint/2010/main" val="12492655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86F524E-7D9F-4D9F-8603-090771BD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0FF41D-FDDA-410C-AA8F-0B920F0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89579D-D068-43C7-A127-7E2AD7B6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Generated API cheat sheet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ECAE50-31DD-4E4E-B133-B2A0A93E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Keep this slide near the end for integrators; send with BuildCommandBatch(sequence).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8B96FF-E45A-4759-B247-7F6C95C9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0A043CE-AF54-4BB0-BB2D-32896760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1572B3-BEDD-4E3D-AF44-48EAAEEF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A2CCECD-767A-4B97-B474-FA25B2A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106984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AAB8363-FCE9-4687-9436-74305DB8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17904"/>
            <a:ext cx="284927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34155"/>
                </a:solidFill>
              </a:rPr>
              <a:t>Need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425026-9F78-4E3D-8935-4204D749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66" y="1517904"/>
            <a:ext cx="755660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34155"/>
                </a:solidFill>
              </a:rPr>
              <a:t>Generated/API pattern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91FD6EB-7CA7-4C82-9189-93F278F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20824"/>
            <a:ext cx="106984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885B050-0B6F-43A3-9580-A81D85B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21408"/>
            <a:ext cx="284927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window display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C45D39-F043-4999-BD5D-219A1FB7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66" y="2121408"/>
            <a:ext cx="755660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ui.Window().SetBrightness / SetColorInverted / SetDisabled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8DC135A-2AB1-41CB-9D40-C58822D5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24328"/>
            <a:ext cx="106984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2321622-12D8-4D31-971C-60B8CB04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724912"/>
            <a:ext cx="284927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 switch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B5076A3-58A0-4C92-95FF-8770F126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66" y="2724912"/>
            <a:ext cx="755660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client.ActivatePage(ui.Page1())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8873F6-8DA8-4A70-9C36-4C0DADE5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27832"/>
            <a:ext cx="106984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452FCAD-CF0C-4064-A583-A73AC080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328416"/>
            <a:ext cx="284927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static reticle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A20083-0BF8-496C-8E24-3F5B0B93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66" y="3328416"/>
            <a:ext cx="755660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page.reticle.SetPosition / SetColor / SetVisible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3125A0A-27DA-4222-8439-5462B4C9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31336"/>
            <a:ext cx="106984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670CEE0-40D6-4E3C-9356-2CD0C17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31920"/>
            <a:ext cx="284927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text value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797F9BC-278E-4D70-8A17-59C97A4B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66" y="3931920"/>
            <a:ext cx="755660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reticle.Label().SetText(value)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6A417ED-848A-484C-9DB4-0E79F6FB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106984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E023A96-2C9B-47E5-8050-A46FC72E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535424"/>
            <a:ext cx="284927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dynamic object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0FF946B-E419-4BAA-AFF2-480DC68F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66" y="4535424"/>
            <a:ext cx="755660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page.DynamicX().Create(); set; Remove(handle)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5F45760-D960-4B5D-9307-35333019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38344"/>
            <a:ext cx="106984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CB3DAC0-E6D7-4A4D-8637-4EB7ACEB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138928"/>
            <a:ext cx="284927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strobe switch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F43F203-6899-482A-AFCF-EDE1F4B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66" y="5138928"/>
            <a:ext cx="755660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page.strobe = page.strobe1 or page.defaultStrobe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83C5B40-2E14-457C-B54D-E8EBE5FF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1848"/>
            <a:ext cx="10698480" cy="566928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3A2FBCF-0994-467E-A354-D1EB7E50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742432"/>
            <a:ext cx="284927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feedback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A2F5699-E86E-4E13-9A97-46CB1B3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66" y="5742432"/>
            <a:ext cx="755660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0F172A"/>
                </a:solidFill>
              </a:rPr>
              <a:t>ui.PollFeedback(); page.IsActive(); track.IsStrobeCaptured()</a:t>
            </a:r>
          </a:p>
        </p:txBody>
      </p:sp>
    </p:spTree>
    <p:extLst>
      <p:ext uri="{BB962C8B-B14F-4D97-AF65-F5344CB8AC3E}">
        <p14:creationId xmlns:p14="http://schemas.microsoft.com/office/powerpoint/2010/main" val="212838469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60EA91-0395-44E3-B712-99C078EB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7205E9-574C-4567-A9F8-DACDFB77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4772C1-CDCA-4541-8DB3-D43C2A7E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UserSpaceProjector cheat sheet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CB9494E-9929-4997-8778-0530E11F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The projector is not a runtime feature; it is client-side math.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C2C4BB-F781-4AF3-AE04-1EE3A157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45E8BD5-D9F4-463B-9863-ECF733CD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C355AA0-49E8-4990-A9A3-8AB28D10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9000b16044dac">
            <a:extLst>
              <a:ext uri="{96DAC541-7B7A-43D3-8B79-37D633B846F1}">
                <asvg:svgBlip xmlns:asvg="http://schemas.microsoft.com/office/drawing/2016/SVG/main" r:embed="R3ec980ddd2c349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00200"/>
            <a:ext cx="10469880" cy="42519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3669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C28C0E0-B60D-4943-895A-228A5428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F7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608E0C-8AE3-4915-BD99-5ED13FC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A0D639-B19A-4C16-829B-960B3E8A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MFDStudio training complete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35F14D-F031-454A-ADB8-597BE192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A user should now understand the whole end-to-end chain.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62E110-95CB-4606-AEE1-CF0AFA9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41148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CACE7B5-B40E-4CCD-A875-CFFD05A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11556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BFC902-BAD0-4E16-B30B-FD9ABDF0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64808"/>
            <a:ext cx="10789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MFDStudio training • tutorial edition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4EC78D6-59A1-4F3A-AC69-7B3B1701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110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5FC525-44BF-42DC-886E-BC8F191E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013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C9E537-C34C-4CE0-8F13-CB272D67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15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B13A81-A427-4972-B314-9B107992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818" y="214884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D2E4D6A-1C89-43FA-B1F6-50CFEB64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E23B58F-8BD3-41F8-9F84-D40190F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C16E85D-8CA9-4E64-A0C4-3F35C94B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Author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04866C2-472A-4850-AEBB-6EF340E3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assets and editor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D31B250-7105-4363-9CD6-BB357467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87DD716-2BDA-4D17-B0AC-3BE74FF1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02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E58C898-C403-46D6-8524-37633CB0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Generate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703D91A-5DF3-4DC9-9920-7A002D35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94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typed contract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C071628-4B88-460E-97B7-2B43C09D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D3D1CC7-02A0-43FE-8B8A-738EDF9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605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80BA55A-1A4B-486D-92FF-372EE7E7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Drive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9C60E4B-044C-46A9-9C56-8B3026FB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97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C++ batches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3839E5E-67C8-4AAE-8E6B-AC6AEF47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A8D1B57-8158-4A52-897D-1A6D5AB7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507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C390E50-9F2E-4333-8069-E10DF41D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Project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F218E58-24B7-4040-B44D-DD6A2A88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99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domain to page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95A387E-5A95-4C6E-BDA6-32CF1AE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737360"/>
            <a:ext cx="202631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6D040D3-AF45-4C06-B03C-50CA9A17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1737360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8AD3153-7C4D-4552-8836-C559803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1883664"/>
            <a:ext cx="169712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2563EB"/>
                </a:solidFill>
              </a:rPr>
              <a:t>Capture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89FE120-5E47-4587-8D1B-265D8D6F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02" y="2167128"/>
            <a:ext cx="169712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475569"/>
                </a:solidFill>
              </a:rPr>
              <a:t>RGBA32 / BGRA32 plugin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87D9B01-93C5-4536-A93E-46380FBD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101498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99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0F172A"/>
                </a:solidFill>
              </a:rPr>
              <a:t>Final rule: structural UI belongs in JSON; live state belongs in generated API batches; final pixels belong in the framebuffer plugin or host callback.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1EB8940D-AC93-4AF7-8370-E1A6ECD0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532120"/>
            <a:ext cx="2560320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970">
            <a:solidFill>
              <a:srgbClr val="2563EB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8EB61C2-55EF-43F5-B8C0-E7386F5D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5618988"/>
            <a:ext cx="2340864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2563EB"/>
                </a:solidFill>
              </a:rPr>
              <a:t>end of tutorial edition</a:t>
            </a:r>
          </a:p>
        </p:txBody>
      </p:sp>
    </p:spTree>
    <p:extLst>
      <p:ext uri="{BB962C8B-B14F-4D97-AF65-F5344CB8AC3E}">
        <p14:creationId xmlns:p14="http://schemas.microsoft.com/office/powerpoint/2010/main" val="124517121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2026-05-29T05:21:20.4730000Z</dcterms:created>
  <dcterms:modified xsi:type="dcterms:W3CDTF">2026-05-29T05:21:20.4730000Z</dcterms:modified>
</coreProperties>
</file>